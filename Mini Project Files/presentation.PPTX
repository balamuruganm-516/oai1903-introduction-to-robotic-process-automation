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76" r:id="rId11"/>
    <p:sldId id="277" r:id="rId12"/>
    <p:sldId id="278" r:id="rId13"/>
    <p:sldId id="279" r:id="rId14"/>
    <p:sldId id="265" r:id="rId15"/>
    <p:sldId id="266" r:id="rId16"/>
    <p:sldId id="280" r:id="rId17"/>
    <p:sldId id="281" r:id="rId18"/>
    <p:sldId id="267" r:id="rId19"/>
    <p:sldId id="282" r:id="rId20"/>
    <p:sldId id="268" r:id="rId21"/>
    <p:sldId id="269" r:id="rId22"/>
    <p:sldId id="270" r:id="rId23"/>
    <p:sldId id="271" r:id="rId24"/>
    <p:sldId id="272" r:id="rId25"/>
    <p:sldId id="275" r:id="rId26"/>
  </p:sldIdLst>
  <p:sldSz cx="9144000" cy="6858000" type="screen4x3"/>
  <p:notesSz cx="6858000" cy="9144000"/>
  <p:embeddedFontLst>
    <p:embeddedFont>
      <p:font typeface="Open Sans ExtraBold" panose="020B0906030804020204" pitchFamily="34" charset="0"/>
      <p:bold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9BD7B8FA-0E7F-9F8C-75BC-55FD16B8281E}"/>
            </a:ext>
          </a:extLst>
        </p:cNvPr>
        <p:cNvGrpSpPr/>
        <p:nvPr/>
      </p:nvGrpSpPr>
      <p:grpSpPr>
        <a:xfrm>
          <a:off x="0" y="0"/>
          <a:ext cx="0" cy="0"/>
          <a:chOff x="0" y="0"/>
          <a:chExt cx="0" cy="0"/>
        </a:xfrm>
      </p:grpSpPr>
      <p:sp>
        <p:nvSpPr>
          <p:cNvPr id="150" name="Google Shape;150;p9:notes">
            <a:extLst>
              <a:ext uri="{FF2B5EF4-FFF2-40B4-BE49-F238E27FC236}">
                <a16:creationId xmlns:a16="http://schemas.microsoft.com/office/drawing/2014/main" id="{EB0D5A69-479C-E5FD-34FA-293214BC7A3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a:extLst>
              <a:ext uri="{FF2B5EF4-FFF2-40B4-BE49-F238E27FC236}">
                <a16:creationId xmlns:a16="http://schemas.microsoft.com/office/drawing/2014/main" id="{F5F75591-E403-B4AD-B25E-37EC4AEBF6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a:extLst>
              <a:ext uri="{FF2B5EF4-FFF2-40B4-BE49-F238E27FC236}">
                <a16:creationId xmlns:a16="http://schemas.microsoft.com/office/drawing/2014/main" id="{1E6B6530-9385-8592-6679-C00E855893D6}"/>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039867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1DA3CD9F-A477-FE07-73CE-38F370889964}"/>
            </a:ext>
          </a:extLst>
        </p:cNvPr>
        <p:cNvGrpSpPr/>
        <p:nvPr/>
      </p:nvGrpSpPr>
      <p:grpSpPr>
        <a:xfrm>
          <a:off x="0" y="0"/>
          <a:ext cx="0" cy="0"/>
          <a:chOff x="0" y="0"/>
          <a:chExt cx="0" cy="0"/>
        </a:xfrm>
      </p:grpSpPr>
      <p:sp>
        <p:nvSpPr>
          <p:cNvPr id="150" name="Google Shape;150;p9:notes">
            <a:extLst>
              <a:ext uri="{FF2B5EF4-FFF2-40B4-BE49-F238E27FC236}">
                <a16:creationId xmlns:a16="http://schemas.microsoft.com/office/drawing/2014/main" id="{8FA46EDC-E0E0-E7FA-14EA-DBC241CF130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a:extLst>
              <a:ext uri="{FF2B5EF4-FFF2-40B4-BE49-F238E27FC236}">
                <a16:creationId xmlns:a16="http://schemas.microsoft.com/office/drawing/2014/main" id="{6BDB7B7A-6395-E483-55E2-627F808B56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a:extLst>
              <a:ext uri="{FF2B5EF4-FFF2-40B4-BE49-F238E27FC236}">
                <a16:creationId xmlns:a16="http://schemas.microsoft.com/office/drawing/2014/main" id="{D5241AE1-ED6F-B7BB-7F65-FB1A60AEDC8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785854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D1A68DFD-6AC9-6C3B-5750-AB25E69B57FA}"/>
            </a:ext>
          </a:extLst>
        </p:cNvPr>
        <p:cNvGrpSpPr/>
        <p:nvPr/>
      </p:nvGrpSpPr>
      <p:grpSpPr>
        <a:xfrm>
          <a:off x="0" y="0"/>
          <a:ext cx="0" cy="0"/>
          <a:chOff x="0" y="0"/>
          <a:chExt cx="0" cy="0"/>
        </a:xfrm>
      </p:grpSpPr>
      <p:sp>
        <p:nvSpPr>
          <p:cNvPr id="150" name="Google Shape;150;p9:notes">
            <a:extLst>
              <a:ext uri="{FF2B5EF4-FFF2-40B4-BE49-F238E27FC236}">
                <a16:creationId xmlns:a16="http://schemas.microsoft.com/office/drawing/2014/main" id="{9F83A00D-1759-78B0-79A2-148C0CA5144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a:extLst>
              <a:ext uri="{FF2B5EF4-FFF2-40B4-BE49-F238E27FC236}">
                <a16:creationId xmlns:a16="http://schemas.microsoft.com/office/drawing/2014/main" id="{30B3FF05-4A84-C1C7-EB7B-74CFF3027C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a:extLst>
              <a:ext uri="{FF2B5EF4-FFF2-40B4-BE49-F238E27FC236}">
                <a16:creationId xmlns:a16="http://schemas.microsoft.com/office/drawing/2014/main" id="{9ABEA8FE-CF65-8C83-6CFE-6CB0022849C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222154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a:extLst>
            <a:ext uri="{FF2B5EF4-FFF2-40B4-BE49-F238E27FC236}">
              <a16:creationId xmlns:a16="http://schemas.microsoft.com/office/drawing/2014/main" id="{EA33019A-E278-4F69-2B04-771CFE28C49F}"/>
            </a:ext>
          </a:extLst>
        </p:cNvPr>
        <p:cNvGrpSpPr/>
        <p:nvPr/>
      </p:nvGrpSpPr>
      <p:grpSpPr>
        <a:xfrm>
          <a:off x="0" y="0"/>
          <a:ext cx="0" cy="0"/>
          <a:chOff x="0" y="0"/>
          <a:chExt cx="0" cy="0"/>
        </a:xfrm>
      </p:grpSpPr>
      <p:sp>
        <p:nvSpPr>
          <p:cNvPr id="150" name="Google Shape;150;p9:notes">
            <a:extLst>
              <a:ext uri="{FF2B5EF4-FFF2-40B4-BE49-F238E27FC236}">
                <a16:creationId xmlns:a16="http://schemas.microsoft.com/office/drawing/2014/main" id="{AD43BE79-C9A9-86EB-68A3-8FB8276AAC6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a:extLst>
              <a:ext uri="{FF2B5EF4-FFF2-40B4-BE49-F238E27FC236}">
                <a16:creationId xmlns:a16="http://schemas.microsoft.com/office/drawing/2014/main" id="{EA030343-1CB1-DC40-5AD3-143352DDD0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a:extLst>
              <a:ext uri="{FF2B5EF4-FFF2-40B4-BE49-F238E27FC236}">
                <a16:creationId xmlns:a16="http://schemas.microsoft.com/office/drawing/2014/main" id="{6C4DBCC3-E64C-9085-BE73-4E6938470E3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849266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1B5C796F-AAC6-D3DC-40F6-330185A62D45}"/>
            </a:ext>
          </a:extLst>
        </p:cNvPr>
        <p:cNvGrpSpPr/>
        <p:nvPr/>
      </p:nvGrpSpPr>
      <p:grpSpPr>
        <a:xfrm>
          <a:off x="0" y="0"/>
          <a:ext cx="0" cy="0"/>
          <a:chOff x="0" y="0"/>
          <a:chExt cx="0" cy="0"/>
        </a:xfrm>
      </p:grpSpPr>
      <p:sp>
        <p:nvSpPr>
          <p:cNvPr id="164" name="Google Shape;164;p11:notes">
            <a:extLst>
              <a:ext uri="{FF2B5EF4-FFF2-40B4-BE49-F238E27FC236}">
                <a16:creationId xmlns:a16="http://schemas.microsoft.com/office/drawing/2014/main" id="{80329684-CAC2-CDBA-0BCD-934E561E912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a:extLst>
              <a:ext uri="{FF2B5EF4-FFF2-40B4-BE49-F238E27FC236}">
                <a16:creationId xmlns:a16="http://schemas.microsoft.com/office/drawing/2014/main" id="{4C82BA84-050E-8562-74C9-3525452656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a:extLst>
              <a:ext uri="{FF2B5EF4-FFF2-40B4-BE49-F238E27FC236}">
                <a16:creationId xmlns:a16="http://schemas.microsoft.com/office/drawing/2014/main" id="{61458F92-0470-0481-6C41-8E160601424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7178427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a:extLst>
            <a:ext uri="{FF2B5EF4-FFF2-40B4-BE49-F238E27FC236}">
              <a16:creationId xmlns:a16="http://schemas.microsoft.com/office/drawing/2014/main" id="{376FC8E8-650C-311A-1D27-98F4415D09C6}"/>
            </a:ext>
          </a:extLst>
        </p:cNvPr>
        <p:cNvGrpSpPr/>
        <p:nvPr/>
      </p:nvGrpSpPr>
      <p:grpSpPr>
        <a:xfrm>
          <a:off x="0" y="0"/>
          <a:ext cx="0" cy="0"/>
          <a:chOff x="0" y="0"/>
          <a:chExt cx="0" cy="0"/>
        </a:xfrm>
      </p:grpSpPr>
      <p:sp>
        <p:nvSpPr>
          <p:cNvPr id="164" name="Google Shape;164;p11:notes">
            <a:extLst>
              <a:ext uri="{FF2B5EF4-FFF2-40B4-BE49-F238E27FC236}">
                <a16:creationId xmlns:a16="http://schemas.microsoft.com/office/drawing/2014/main" id="{F09ADC67-D381-551F-1B0E-9A5CE897BD1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a:extLst>
              <a:ext uri="{FF2B5EF4-FFF2-40B4-BE49-F238E27FC236}">
                <a16:creationId xmlns:a16="http://schemas.microsoft.com/office/drawing/2014/main" id="{FB2F90D6-81AA-F3C2-E9C8-9171C93831B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a:extLst>
              <a:ext uri="{FF2B5EF4-FFF2-40B4-BE49-F238E27FC236}">
                <a16:creationId xmlns:a16="http://schemas.microsoft.com/office/drawing/2014/main" id="{0EA18428-90F1-435E-5C70-597E181CF1C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0801252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3BDCD456-1A64-FE40-0CB6-C50FBEB94B66}"/>
            </a:ext>
          </a:extLst>
        </p:cNvPr>
        <p:cNvGrpSpPr/>
        <p:nvPr/>
      </p:nvGrpSpPr>
      <p:grpSpPr>
        <a:xfrm>
          <a:off x="0" y="0"/>
          <a:ext cx="0" cy="0"/>
          <a:chOff x="0" y="0"/>
          <a:chExt cx="0" cy="0"/>
        </a:xfrm>
      </p:grpSpPr>
      <p:sp>
        <p:nvSpPr>
          <p:cNvPr id="171" name="Google Shape;171;p12:notes">
            <a:extLst>
              <a:ext uri="{FF2B5EF4-FFF2-40B4-BE49-F238E27FC236}">
                <a16:creationId xmlns:a16="http://schemas.microsoft.com/office/drawing/2014/main" id="{2D8EF514-1594-CC59-28E0-B961A21E34D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a:extLst>
              <a:ext uri="{FF2B5EF4-FFF2-40B4-BE49-F238E27FC236}">
                <a16:creationId xmlns:a16="http://schemas.microsoft.com/office/drawing/2014/main" id="{648CD745-5D0A-CDA0-752F-C5C6CE0A0C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a:extLst>
              <a:ext uri="{FF2B5EF4-FFF2-40B4-BE49-F238E27FC236}">
                <a16:creationId xmlns:a16="http://schemas.microsoft.com/office/drawing/2014/main" id="{1506C8FA-21B1-C8D9-CC9D-A6BE37683E6C}"/>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1216918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456716"/>
            <a:chOff x="-14748" y="986564"/>
            <a:chExt cx="9158748" cy="5456716"/>
          </a:xfrm>
        </p:grpSpPr>
        <p:sp>
          <p:nvSpPr>
            <p:cNvPr id="90" name="Google Shape;90;p13"/>
            <p:cNvSpPr txBox="1"/>
            <p:nvPr/>
          </p:nvSpPr>
          <p:spPr>
            <a:xfrm>
              <a:off x="177781" y="4812105"/>
              <a:ext cx="5566196" cy="16311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220701516</a:t>
              </a:r>
              <a:endParaRPr dirty="0"/>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Balamurugan M</a:t>
              </a:r>
              <a:endParaRPr dirty="0"/>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Mrs. J. Jinu Sophia</a:t>
              </a:r>
              <a:endParaRPr dirty="0"/>
            </a:p>
            <a:p>
              <a:pPr marL="0" marR="0" lvl="0" indent="0" algn="l" rtl="0">
                <a:spcBef>
                  <a:spcPts val="0"/>
                </a:spcBef>
                <a:spcAft>
                  <a:spcPts val="0"/>
                </a:spcAft>
                <a:buNone/>
              </a:pPr>
              <a:r>
                <a:rPr lang="en-US" sz="2000" b="1" dirty="0">
                  <a:solidFill>
                    <a:schemeClr val="dk1"/>
                  </a:solidFill>
                  <a:latin typeface="Calibri"/>
                  <a:ea typeface="Calibri"/>
                  <a:cs typeface="Calibri"/>
                  <a:sym typeface="Calibri"/>
                </a:rPr>
                <a:t>Assistant Professor (SG)</a:t>
              </a:r>
              <a:br>
                <a:rPr lang="en-US" sz="2000" b="1" dirty="0">
                  <a:solidFill>
                    <a:schemeClr val="dk1"/>
                  </a:solidFill>
                  <a:latin typeface="Calibri"/>
                  <a:ea typeface="Calibri"/>
                  <a:cs typeface="Calibri"/>
                  <a:sym typeface="Calibri"/>
                </a:rPr>
              </a:br>
              <a:r>
                <a:rPr lang="en-US" sz="2000" b="1" dirty="0">
                  <a:solidFill>
                    <a:schemeClr val="dk1"/>
                  </a:solidFill>
                  <a:latin typeface="Calibri"/>
                  <a:ea typeface="Calibri"/>
                  <a:cs typeface="Calibri"/>
                  <a:sym typeface="Calibri"/>
                </a:rPr>
                <a:t>Department of Computer Science and Engineering</a:t>
              </a:r>
              <a:endParaRPr sz="2000" b="1" dirty="0">
                <a:solidFill>
                  <a:schemeClr val="dk1"/>
                </a:solidFill>
                <a:latin typeface="Calibri"/>
                <a:ea typeface="Calibri"/>
                <a:cs typeface="Calibri"/>
                <a:sym typeface="Calibri"/>
              </a:endParaRPr>
            </a:p>
          </p:txBody>
        </p:sp>
        <p:grpSp>
          <p:nvGrpSpPr>
            <p:cNvPr id="91" name="Google Shape;91;p13"/>
            <p:cNvGrpSpPr/>
            <p:nvPr/>
          </p:nvGrpSpPr>
          <p:grpSpPr>
            <a:xfrm>
              <a:off x="-14748" y="986564"/>
              <a:ext cx="9158748" cy="3699622"/>
              <a:chOff x="-14748" y="986564"/>
              <a:chExt cx="9158748" cy="3699622"/>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000" b="1">
                      <a:solidFill>
                        <a:schemeClr val="lt1"/>
                      </a:solidFill>
                      <a:latin typeface="Calibri"/>
                      <a:ea typeface="Calibri"/>
                      <a:cs typeface="Calibri"/>
                      <a:sym typeface="Calibri"/>
                    </a:rPr>
                    <a:t>Introduction to </a:t>
                  </a:r>
                  <a:endParaRPr/>
                </a:p>
                <a:p>
                  <a:pPr marL="0" marR="0" lvl="0" indent="0" algn="ctr" rtl="0">
                    <a:spcBef>
                      <a:spcPts val="0"/>
                    </a:spcBef>
                    <a:spcAft>
                      <a:spcPts val="0"/>
                    </a:spcAft>
                    <a:buNone/>
                  </a:pPr>
                  <a:r>
                    <a:rPr lang="en-US" sz="2000" b="1">
                      <a:solidFill>
                        <a:schemeClr val="lt1"/>
                      </a:solidFill>
                      <a:latin typeface="Calibri"/>
                      <a:ea typeface="Calibri"/>
                      <a:cs typeface="Calibri"/>
                      <a:sym typeface="Calibri"/>
                    </a:rPr>
                    <a:t>Robotic Process Automation </a:t>
                  </a:r>
                  <a:endParaRPr sz="2000" b="1">
                    <a:solidFill>
                      <a:schemeClr val="lt1"/>
                    </a:solidFill>
                    <a:latin typeface="Calibri"/>
                    <a:ea typeface="Calibri"/>
                    <a:cs typeface="Calibri"/>
                    <a:sym typeface="Calibri"/>
                  </a:endParaRPr>
                </a:p>
              </p:txBody>
            </p:sp>
          </p:grpSp>
          <p:sp>
            <p:nvSpPr>
              <p:cNvPr id="97" name="Google Shape;97;p13"/>
              <p:cNvSpPr txBox="1"/>
              <p:nvPr/>
            </p:nvSpPr>
            <p:spPr>
              <a:xfrm>
                <a:off x="177782" y="2100903"/>
                <a:ext cx="4188156" cy="258528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b="1" dirty="0">
                    <a:solidFill>
                      <a:schemeClr val="lt1"/>
                    </a:solidFill>
                    <a:latin typeface="Calibri"/>
                    <a:ea typeface="Calibri"/>
                    <a:cs typeface="Calibri"/>
                    <a:sym typeface="Calibri"/>
                  </a:rPr>
                  <a:t>Online Exam Registration Reminder Bot</a:t>
                </a:r>
                <a:endParaRPr dirty="0"/>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just" rtl="0">
              <a:lnSpc>
                <a:spcPct val="114000"/>
              </a:lnSpc>
              <a:spcBef>
                <a:spcPts val="0"/>
              </a:spcBef>
              <a:spcAft>
                <a:spcPts val="0"/>
              </a:spcAft>
              <a:buClr>
                <a:schemeClr val="dk1"/>
              </a:buClr>
              <a:buSzPts val="2400"/>
              <a:buFont typeface="Noto Sans Symbols"/>
              <a:buChar char="▪"/>
            </a:pPr>
            <a:r>
              <a:rPr lang="en-US" dirty="0"/>
              <a:t>The Online Exam Registration Reminder Bot is an automation solution developed to streamline the process of notifying users about approaching exam registration deadlines. This bot reads exam schedules and deadlines from an Excel file, calculates the remaining days until each deadline, and sends personalized email reminders to students whose deadlines are within three days. By leveraging activities such as data extraction, conditional checks, and email automation, the bot ensures timely communication and reduces the risk of missed registrations. The project incorporates error handling, logging, and data updates, providing a robust and efficient workflow. Additionally, secure methods like credential storage and dynamic scheduling ensure data privacy and seamless daily execution. This bot is particularly useful for educational institutions and organizations, offering a scalable, reliable, and user-friendly way to manage registration notifications and enhance productivity. 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lnSpc>
                <a:spcPct val="114000"/>
              </a:lnSpc>
              <a:spcBef>
                <a:spcPts val="0"/>
              </a:spcBef>
              <a:spcAft>
                <a:spcPts val="0"/>
              </a:spcAft>
              <a:buClr>
                <a:schemeClr val="dk1"/>
              </a:buClr>
              <a:buSzPts val="2400"/>
              <a:buFont typeface="Arial" panose="020B0604020202020204" pitchFamily="34" charset="0"/>
              <a:buChar char="•"/>
            </a:pPr>
            <a:r>
              <a:rPr lang="en-US" dirty="0"/>
              <a:t>The increasing reliance on online examination systems has amplified the challenges of managing timely registrations effectively. Many candidates often miss important deadlines due to lack of awareness or forgetfulness, leading to missed opportunities and increased administrative burdens for educational institutions.</a:t>
            </a:r>
          </a:p>
          <a:p>
            <a:pPr marL="342900" lvl="0" indent="-342900" algn="l" rtl="0">
              <a:lnSpc>
                <a:spcPct val="114000"/>
              </a:lnSpc>
              <a:spcBef>
                <a:spcPts val="0"/>
              </a:spcBef>
              <a:spcAft>
                <a:spcPts val="0"/>
              </a:spcAft>
              <a:buClr>
                <a:schemeClr val="dk1"/>
              </a:buClr>
              <a:buSzPts val="2400"/>
              <a:buFont typeface="Arial" panose="020B0604020202020204" pitchFamily="34" charset="0"/>
              <a:buChar char="•"/>
            </a:pPr>
            <a:r>
              <a:rPr lang="en-US" dirty="0"/>
              <a:t>The Online Exam Registration Reminder Bot addresses these challenges by providing an automated, efficient, and reliable system for notifying candidates about upcoming registration deadlines. This reduces dependency on manual reminders, minimizes errors, and enhances user experience. Key drivers for the system's necessity include:</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	1. Eliminating Human Errors: Manual communication can lead to oversight, inaccuracies, and missed notifications. Automation ensures consistency and reliability.</a:t>
            </a:r>
          </a:p>
          <a:p>
            <a:pPr marL="0" lvl="0" indent="0" algn="l" rtl="0">
              <a:lnSpc>
                <a:spcPct val="114000"/>
              </a:lnSpc>
              <a:spcBef>
                <a:spcPts val="0"/>
              </a:spcBef>
              <a:spcAft>
                <a:spcPts val="0"/>
              </a:spcAft>
              <a:buClr>
                <a:schemeClr val="dk1"/>
              </a:buClr>
              <a:buSzPts val="2400"/>
              <a:buNone/>
            </a:pPr>
            <a:r>
              <a:rPr lang="en-US" dirty="0"/>
              <a:t>	2. Improved Time Management: Candidates are prompted well in advance to complete registrations, reducing last-minute rushes. </a:t>
            </a:r>
          </a:p>
          <a:p>
            <a:pPr marL="0" lvl="0" indent="0" algn="l" rtl="0">
              <a:lnSpc>
                <a:spcPct val="114000"/>
              </a:lnSpc>
              <a:spcBef>
                <a:spcPts val="0"/>
              </a:spcBef>
              <a:spcAft>
                <a:spcPts val="0"/>
              </a:spcAft>
              <a:buClr>
                <a:schemeClr val="dk1"/>
              </a:buClr>
              <a:buSzPts val="2400"/>
              <a:buNone/>
            </a:pPr>
            <a:r>
              <a:rPr lang="en-US" dirty="0"/>
              <a:t>	3. Administrative Efficiency: Educational institutions can save significant time and effort by automating routine tasks such as sending reminders.</a:t>
            </a:r>
          </a:p>
          <a:p>
            <a:pPr marL="0" lvl="0" indent="0" algn="l" rtl="0">
              <a:lnSpc>
                <a:spcPct val="114000"/>
              </a:lnSpc>
              <a:spcBef>
                <a:spcPts val="0"/>
              </a:spcBef>
              <a:spcAft>
                <a:spcPts val="0"/>
              </a:spcAft>
              <a:buClr>
                <a:schemeClr val="dk1"/>
              </a:buClr>
              <a:buSzPts val="2400"/>
              <a:buNone/>
            </a:pPr>
            <a:r>
              <a:rPr lang="en-US" dirty="0"/>
              <a:t>	4. Accessibility: The system ensures that candidates across different demographics receive timely notifications through email, bridging gaps in communication. </a:t>
            </a:r>
          </a:p>
          <a:p>
            <a:pPr marL="0" lvl="0" indent="0" algn="l" rtl="0">
              <a:lnSpc>
                <a:spcPct val="114000"/>
              </a:lnSpc>
              <a:spcBef>
                <a:spcPts val="0"/>
              </a:spcBef>
              <a:spcAft>
                <a:spcPts val="0"/>
              </a:spcAft>
              <a:buClr>
                <a:schemeClr val="dk1"/>
              </a:buClr>
              <a:buSzPts val="2400"/>
              <a:buNone/>
            </a:pPr>
            <a:r>
              <a:rPr lang="en-US" dirty="0"/>
              <a:t>	5. Scalability: As the number of candidates grows, manual tracking becomes unfeasible, making automation indispensable.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Advantages of the Proposed System</a:t>
            </a:r>
            <a:endParaRPr>
              <a:latin typeface="Calibri"/>
              <a:ea typeface="Calibri"/>
              <a:cs typeface="Calibri"/>
              <a:sym typeface="Calibri"/>
            </a:endParaRPr>
          </a:p>
        </p:txBody>
      </p:sp>
      <p:sp>
        <p:nvSpPr>
          <p:cNvPr id="120" name="Google Shape;120;p1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14000"/>
              </a:lnSpc>
              <a:spcBef>
                <a:spcPts val="0"/>
              </a:spcBef>
              <a:spcAft>
                <a:spcPts val="0"/>
              </a:spcAft>
              <a:buClr>
                <a:schemeClr val="dk1"/>
              </a:buClr>
              <a:buSzPts val="2400"/>
              <a:buNone/>
            </a:pPr>
            <a:r>
              <a:rPr lang="en-US" dirty="0"/>
              <a:t>Advantages of the Proposed System (Top 5):</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1. Automation of Reminders:</a:t>
            </a:r>
          </a:p>
          <a:p>
            <a:pPr marL="0" lvl="0" indent="0" algn="l" rtl="0">
              <a:lnSpc>
                <a:spcPct val="114000"/>
              </a:lnSpc>
              <a:spcBef>
                <a:spcPts val="0"/>
              </a:spcBef>
              <a:spcAft>
                <a:spcPts val="0"/>
              </a:spcAft>
              <a:buClr>
                <a:schemeClr val="dk1"/>
              </a:buClr>
              <a:buSzPts val="2400"/>
              <a:buNone/>
            </a:pPr>
            <a:r>
              <a:rPr lang="en-US" dirty="0"/>
              <a:t>	Eliminates the need for manual tracking and communication, ensuring timely notifications for all candidates.</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2. Error Reduction:</a:t>
            </a:r>
          </a:p>
          <a:p>
            <a:pPr marL="0" lvl="0" indent="0" algn="l" rtl="0">
              <a:lnSpc>
                <a:spcPct val="114000"/>
              </a:lnSpc>
              <a:spcBef>
                <a:spcPts val="0"/>
              </a:spcBef>
              <a:spcAft>
                <a:spcPts val="0"/>
              </a:spcAft>
              <a:buClr>
                <a:schemeClr val="dk1"/>
              </a:buClr>
              <a:buSzPts val="2400"/>
              <a:buNone/>
            </a:pPr>
            <a:r>
              <a:rPr lang="en-US" dirty="0"/>
              <a:t>	Minimizes human errors in scheduling and reminder dispatch, leading to improved reliability.</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3. Time Efficiency:</a:t>
            </a:r>
          </a:p>
          <a:p>
            <a:pPr marL="0" lvl="0" indent="0" algn="l" rtl="0">
              <a:lnSpc>
                <a:spcPct val="114000"/>
              </a:lnSpc>
              <a:spcBef>
                <a:spcPts val="0"/>
              </a:spcBef>
              <a:spcAft>
                <a:spcPts val="0"/>
              </a:spcAft>
              <a:buClr>
                <a:schemeClr val="dk1"/>
              </a:buClr>
              <a:buSzPts val="2400"/>
              <a:buNone/>
            </a:pPr>
            <a:r>
              <a:rPr lang="en-US" dirty="0"/>
              <a:t>	Speeds up the process of sending reminders, allowing administrators to focus on other critical tasks.</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4. Cost Effectiveness:</a:t>
            </a:r>
          </a:p>
          <a:p>
            <a:pPr marL="0" lvl="0" indent="0" algn="l" rtl="0">
              <a:lnSpc>
                <a:spcPct val="114000"/>
              </a:lnSpc>
              <a:spcBef>
                <a:spcPts val="0"/>
              </a:spcBef>
              <a:spcAft>
                <a:spcPts val="0"/>
              </a:spcAft>
              <a:buClr>
                <a:schemeClr val="dk1"/>
              </a:buClr>
              <a:buSzPts val="2400"/>
              <a:buNone/>
            </a:pPr>
            <a:r>
              <a:rPr lang="en-US" dirty="0"/>
              <a:t>	Reduces the operational costs associated with manual tracking and communication methods.</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5. Enhanced User Experience:</a:t>
            </a:r>
          </a:p>
          <a:p>
            <a:pPr marL="0" lvl="0" indent="0" algn="l" rtl="0">
              <a:lnSpc>
                <a:spcPct val="114000"/>
              </a:lnSpc>
              <a:spcBef>
                <a:spcPts val="0"/>
              </a:spcBef>
              <a:spcAft>
                <a:spcPts val="0"/>
              </a:spcAft>
              <a:buClr>
                <a:schemeClr val="dk1"/>
              </a:buClr>
              <a:buSzPts val="2400"/>
              <a:buNone/>
            </a:pPr>
            <a:r>
              <a:rPr lang="en-US" dirty="0"/>
              <a:t>	Provides candidates with timely and personalized reminders, improving their overall satisfaction with the service.</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76200" indent="0">
              <a:buNone/>
            </a:pPr>
            <a:r>
              <a:rPr lang="en-IN" sz="1200" b="1" dirty="0"/>
              <a:t>Paper 1: </a:t>
            </a:r>
            <a:r>
              <a:rPr lang="en-IN" sz="1200" dirty="0"/>
              <a:t>Automated Online Exam Proctoring</a:t>
            </a:r>
            <a:br>
              <a:rPr lang="en-IN" sz="1200" dirty="0"/>
            </a:br>
            <a:r>
              <a:rPr lang="en-IN" sz="1200" b="1" dirty="0"/>
              <a:t>Source</a:t>
            </a:r>
            <a:r>
              <a:rPr lang="en-IN" sz="1200" dirty="0"/>
              <a:t>: IEEE Xplore</a:t>
            </a:r>
            <a:br>
              <a:rPr lang="en-IN" sz="1200" dirty="0"/>
            </a:br>
            <a:r>
              <a:rPr lang="en-IN" sz="1200" b="1" dirty="0"/>
              <a:t>Link</a:t>
            </a:r>
            <a:r>
              <a:rPr lang="en-IN" sz="1200" dirty="0"/>
              <a:t>: https://ieeexplore.ieee.org/document/7828141</a:t>
            </a:r>
          </a:p>
          <a:p>
            <a:pPr marL="76200" indent="0">
              <a:buNone/>
            </a:pPr>
            <a:r>
              <a:rPr lang="en-IN" sz="1200" dirty="0"/>
              <a:t>	Advantages: </a:t>
            </a:r>
          </a:p>
          <a:p>
            <a:pPr marL="0" lvl="0" indent="0" algn="l" rtl="0">
              <a:lnSpc>
                <a:spcPct val="114000"/>
              </a:lnSpc>
              <a:spcBef>
                <a:spcPts val="480"/>
              </a:spcBef>
              <a:spcAft>
                <a:spcPts val="0"/>
              </a:spcAft>
              <a:buClr>
                <a:schemeClr val="dk1"/>
              </a:buClr>
              <a:buSzPts val="2400"/>
              <a:buNone/>
            </a:pPr>
            <a:r>
              <a:rPr lang="en-IN" sz="1200" dirty="0"/>
              <a:t>		- Reduces manual intervention in proctoring</a:t>
            </a:r>
          </a:p>
          <a:p>
            <a:pPr marL="0" lvl="0" indent="0" algn="l" rtl="0">
              <a:lnSpc>
                <a:spcPct val="114000"/>
              </a:lnSpc>
              <a:spcBef>
                <a:spcPts val="480"/>
              </a:spcBef>
              <a:spcAft>
                <a:spcPts val="0"/>
              </a:spcAft>
              <a:buClr>
                <a:schemeClr val="dk1"/>
              </a:buClr>
              <a:buSzPts val="2400"/>
              <a:buNone/>
            </a:pPr>
            <a:r>
              <a:rPr lang="en-IN" sz="1200" dirty="0"/>
              <a:t>		- Enhances security and compliance in exam settings</a:t>
            </a:r>
          </a:p>
          <a:p>
            <a:pPr marL="0" lvl="0" indent="0" algn="l" rtl="0">
              <a:lnSpc>
                <a:spcPct val="114000"/>
              </a:lnSpc>
              <a:spcBef>
                <a:spcPts val="480"/>
              </a:spcBef>
              <a:spcAft>
                <a:spcPts val="0"/>
              </a:spcAft>
              <a:buClr>
                <a:schemeClr val="dk1"/>
              </a:buClr>
              <a:buSzPts val="2400"/>
              <a:buNone/>
            </a:pPr>
            <a:r>
              <a:rPr lang="en-IN" sz="1200" dirty="0"/>
              <a:t>	Disadvantages:</a:t>
            </a:r>
          </a:p>
          <a:p>
            <a:pPr marL="0" lvl="0" indent="0" algn="l" rtl="0">
              <a:lnSpc>
                <a:spcPct val="114000"/>
              </a:lnSpc>
              <a:spcBef>
                <a:spcPts val="480"/>
              </a:spcBef>
              <a:spcAft>
                <a:spcPts val="0"/>
              </a:spcAft>
              <a:buClr>
                <a:schemeClr val="dk1"/>
              </a:buClr>
              <a:buSzPts val="2400"/>
              <a:buNone/>
            </a:pPr>
            <a:r>
              <a:rPr lang="en-IN" sz="1200" dirty="0"/>
              <a:t>		- Implementation cost is high</a:t>
            </a:r>
          </a:p>
          <a:p>
            <a:pPr marL="0" lvl="0" indent="0" algn="l" rtl="0">
              <a:lnSpc>
                <a:spcPct val="114000"/>
              </a:lnSpc>
              <a:spcBef>
                <a:spcPts val="480"/>
              </a:spcBef>
              <a:spcAft>
                <a:spcPts val="0"/>
              </a:spcAft>
              <a:buClr>
                <a:schemeClr val="dk1"/>
              </a:buClr>
              <a:buSzPts val="2400"/>
              <a:buNone/>
            </a:pPr>
            <a:r>
              <a:rPr lang="en-IN" sz="1200" dirty="0"/>
              <a:t>		- May raise privacy concerns among users</a:t>
            </a:r>
          </a:p>
          <a:p>
            <a:pPr marL="0" lvl="0" indent="0" algn="l" rtl="0">
              <a:lnSpc>
                <a:spcPct val="114000"/>
              </a:lnSpc>
              <a:spcBef>
                <a:spcPts val="480"/>
              </a:spcBef>
              <a:spcAft>
                <a:spcPts val="0"/>
              </a:spcAft>
              <a:buClr>
                <a:schemeClr val="dk1"/>
              </a:buClr>
              <a:buSzPts val="2400"/>
              <a:buNone/>
            </a:pPr>
            <a:endParaRPr lang="en-IN" sz="1200" dirty="0"/>
          </a:p>
          <a:p>
            <a:pPr marL="0" lvl="0" indent="0" algn="l" rtl="0">
              <a:lnSpc>
                <a:spcPct val="114000"/>
              </a:lnSpc>
              <a:spcBef>
                <a:spcPts val="480"/>
              </a:spcBef>
              <a:spcAft>
                <a:spcPts val="0"/>
              </a:spcAft>
              <a:buClr>
                <a:schemeClr val="dk1"/>
              </a:buClr>
              <a:buSzPts val="2400"/>
              <a:buNone/>
            </a:pPr>
            <a:r>
              <a:rPr lang="en-IN" sz="1200" b="1" dirty="0"/>
              <a:t>Paper 2: </a:t>
            </a:r>
            <a:r>
              <a:rPr lang="en-US" sz="1200" dirty="0"/>
              <a:t>Automated Online Exam Proctoring System Using Computer Vision and Hybrid ML Classifier</a:t>
            </a:r>
          </a:p>
          <a:p>
            <a:pPr marL="0" lvl="0" indent="0" algn="l" rtl="0">
              <a:lnSpc>
                <a:spcPct val="114000"/>
              </a:lnSpc>
              <a:spcBef>
                <a:spcPts val="480"/>
              </a:spcBef>
              <a:spcAft>
                <a:spcPts val="0"/>
              </a:spcAft>
              <a:buClr>
                <a:schemeClr val="dk1"/>
              </a:buClr>
              <a:buSzPts val="2400"/>
              <a:buNone/>
            </a:pPr>
            <a:r>
              <a:rPr lang="en-US" sz="1200" b="1" dirty="0"/>
              <a:t>Source: </a:t>
            </a:r>
            <a:r>
              <a:rPr lang="en-US" sz="1200" dirty="0"/>
              <a:t>IEEE Xplore</a:t>
            </a:r>
          </a:p>
          <a:p>
            <a:pPr marL="0" lvl="0" indent="0" algn="l" rtl="0">
              <a:lnSpc>
                <a:spcPct val="114000"/>
              </a:lnSpc>
              <a:spcBef>
                <a:spcPts val="480"/>
              </a:spcBef>
              <a:spcAft>
                <a:spcPts val="0"/>
              </a:spcAft>
              <a:buClr>
                <a:schemeClr val="dk1"/>
              </a:buClr>
              <a:buSzPts val="2400"/>
              <a:buNone/>
            </a:pPr>
            <a:r>
              <a:rPr lang="en-US" sz="1200" b="1" dirty="0"/>
              <a:t>Link: </a:t>
            </a:r>
            <a:r>
              <a:rPr lang="en-US" sz="1200" dirty="0"/>
              <a:t>https://ieeexplore.ieee.org/document/9929456</a:t>
            </a:r>
          </a:p>
          <a:p>
            <a:pPr marL="0" lvl="0" indent="0" algn="l" rtl="0">
              <a:lnSpc>
                <a:spcPct val="114000"/>
              </a:lnSpc>
              <a:spcBef>
                <a:spcPts val="480"/>
              </a:spcBef>
              <a:spcAft>
                <a:spcPts val="0"/>
              </a:spcAft>
              <a:buClr>
                <a:schemeClr val="dk1"/>
              </a:buClr>
              <a:buSzPts val="2400"/>
              <a:buNone/>
            </a:pPr>
            <a:r>
              <a:rPr lang="en-US" sz="1200" dirty="0"/>
              <a:t>	Advantages:</a:t>
            </a:r>
          </a:p>
          <a:p>
            <a:pPr marL="0" lvl="0" indent="0" algn="l" rtl="0">
              <a:lnSpc>
                <a:spcPct val="114000"/>
              </a:lnSpc>
              <a:spcBef>
                <a:spcPts val="480"/>
              </a:spcBef>
              <a:spcAft>
                <a:spcPts val="0"/>
              </a:spcAft>
              <a:buClr>
                <a:schemeClr val="dk1"/>
              </a:buClr>
              <a:buSzPts val="2400"/>
              <a:buNone/>
            </a:pPr>
            <a:r>
              <a:rPr lang="en-US" sz="1200" dirty="0"/>
              <a:t>		- Highly accurate anomaly detection</a:t>
            </a:r>
          </a:p>
          <a:p>
            <a:pPr marL="0" lvl="0" indent="0" algn="l" rtl="0">
              <a:lnSpc>
                <a:spcPct val="114000"/>
              </a:lnSpc>
              <a:spcBef>
                <a:spcPts val="480"/>
              </a:spcBef>
              <a:spcAft>
                <a:spcPts val="0"/>
              </a:spcAft>
              <a:buClr>
                <a:schemeClr val="dk1"/>
              </a:buClr>
              <a:buSzPts val="2400"/>
              <a:buNone/>
            </a:pPr>
            <a:r>
              <a:rPr lang="en-US" sz="1200" dirty="0"/>
              <a:t>		- Can be integrated into existing online exam systems</a:t>
            </a:r>
          </a:p>
          <a:p>
            <a:pPr marL="0" lvl="0" indent="0" algn="l" rtl="0">
              <a:lnSpc>
                <a:spcPct val="114000"/>
              </a:lnSpc>
              <a:spcBef>
                <a:spcPts val="480"/>
              </a:spcBef>
              <a:spcAft>
                <a:spcPts val="0"/>
              </a:spcAft>
              <a:buClr>
                <a:schemeClr val="dk1"/>
              </a:buClr>
              <a:buSzPts val="2400"/>
              <a:buNone/>
            </a:pPr>
            <a:r>
              <a:rPr lang="en-US" sz="1200" dirty="0"/>
              <a:t>	Disadvantages:</a:t>
            </a:r>
            <a:br>
              <a:rPr lang="en-US" sz="1200" dirty="0"/>
            </a:br>
            <a:r>
              <a:rPr lang="en-US" sz="1200" dirty="0"/>
              <a:t>		- Heavy reliance on high-performance hardware</a:t>
            </a:r>
          </a:p>
          <a:p>
            <a:pPr marL="0" lvl="0" indent="0" algn="l" rtl="0">
              <a:lnSpc>
                <a:spcPct val="114000"/>
              </a:lnSpc>
              <a:spcBef>
                <a:spcPts val="480"/>
              </a:spcBef>
              <a:spcAft>
                <a:spcPts val="0"/>
              </a:spcAft>
              <a:buClr>
                <a:schemeClr val="dk1"/>
              </a:buClr>
              <a:buSzPts val="2400"/>
              <a:buNone/>
            </a:pPr>
            <a:r>
              <a:rPr lang="en-US" sz="1200" dirty="0"/>
              <a:t>		- Potential challenges with model bias and false positives</a:t>
            </a:r>
            <a:endParaRPr lang="en-IN"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34" name="Google Shape;134;p18"/>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indent="-342900" algn="just">
              <a:spcBef>
                <a:spcPts val="0"/>
              </a:spcBef>
            </a:pPr>
            <a:r>
              <a:rPr lang="en-US" dirty="0"/>
              <a:t>The primary objective of this project is to develop a bot that automates the process of sending reminders about exam registration deadlines. The bot ensures timely notifications, reduces dependency on manual follow-ups, and minimizes the risk of missed deadlines. Additionally, it aims to integrate seamlessly with existing exam management systems, offering a user-friendly and efficient approach to communication. By automating this process, educational institutions can focus on other critical tasks, while students receive consistent and accurate updates.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41" name="Google Shape;141;p1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endParaRPr dirty="0"/>
          </a:p>
        </p:txBody>
      </p:sp>
      <p:pic>
        <p:nvPicPr>
          <p:cNvPr id="3" name="Picture 2">
            <a:extLst>
              <a:ext uri="{FF2B5EF4-FFF2-40B4-BE49-F238E27FC236}">
                <a16:creationId xmlns:a16="http://schemas.microsoft.com/office/drawing/2014/main" id="{8CAC8380-6361-4886-CCDE-F5677710CD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9862" y="990600"/>
            <a:ext cx="3724275" cy="533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48" name="Google Shape;148;p20"/>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Hardware</a:t>
            </a:r>
          </a:p>
          <a:p>
            <a:pPr marL="0" lvl="0" indent="0" algn="l" rtl="0">
              <a:lnSpc>
                <a:spcPct val="114000"/>
              </a:lnSpc>
              <a:spcBef>
                <a:spcPts val="0"/>
              </a:spcBef>
              <a:spcAft>
                <a:spcPts val="0"/>
              </a:spcAft>
              <a:buClr>
                <a:schemeClr val="dk1"/>
              </a:buClr>
              <a:buSzPts val="2400"/>
              <a:buNone/>
            </a:pPr>
            <a:r>
              <a:rPr lang="en-US" dirty="0"/>
              <a:t>	1. Processor: Intel Core i3 or equivalent (minimum); Intel Core i5 or higher (recommended)</a:t>
            </a:r>
          </a:p>
          <a:p>
            <a:pPr marL="0" lvl="0" indent="0" algn="l" rtl="0">
              <a:lnSpc>
                <a:spcPct val="114000"/>
              </a:lnSpc>
              <a:spcBef>
                <a:spcPts val="0"/>
              </a:spcBef>
              <a:spcAft>
                <a:spcPts val="0"/>
              </a:spcAft>
              <a:buClr>
                <a:schemeClr val="dk1"/>
              </a:buClr>
              <a:buSzPts val="2400"/>
              <a:buNone/>
            </a:pPr>
            <a:r>
              <a:rPr lang="en-US" dirty="0"/>
              <a:t>	2. RAM: 4 GB</a:t>
            </a:r>
          </a:p>
          <a:p>
            <a:pPr marL="0" lvl="0" indent="0" algn="l" rtl="0">
              <a:lnSpc>
                <a:spcPct val="114000"/>
              </a:lnSpc>
              <a:spcBef>
                <a:spcPts val="0"/>
              </a:spcBef>
              <a:spcAft>
                <a:spcPts val="0"/>
              </a:spcAft>
              <a:buClr>
                <a:schemeClr val="dk1"/>
              </a:buClr>
              <a:buSzPts val="2400"/>
              <a:buNone/>
            </a:pPr>
            <a:r>
              <a:rPr lang="en-US" dirty="0"/>
              <a:t>	3. Storage: At least 20 GB of free space.</a:t>
            </a:r>
            <a:endParaRPr dirty="0"/>
          </a:p>
          <a:p>
            <a:pPr marL="342900" lvl="0" indent="-342900" algn="l" rtl="0">
              <a:lnSpc>
                <a:spcPct val="114000"/>
              </a:lnSpc>
              <a:spcBef>
                <a:spcPts val="480"/>
              </a:spcBef>
              <a:spcAft>
                <a:spcPts val="0"/>
              </a:spcAft>
              <a:buClr>
                <a:schemeClr val="dk1"/>
              </a:buClr>
              <a:buSzPts val="2400"/>
              <a:buFont typeface="Noto Sans Symbols"/>
              <a:buChar char="▪"/>
            </a:pPr>
            <a:r>
              <a:rPr lang="en-US" dirty="0"/>
              <a:t>Software</a:t>
            </a:r>
          </a:p>
          <a:p>
            <a:pPr marL="457200" lvl="1" indent="0">
              <a:spcBef>
                <a:spcPts val="480"/>
              </a:spcBef>
              <a:buSzPts val="2400"/>
              <a:buNone/>
            </a:pPr>
            <a:r>
              <a:rPr lang="en-US" dirty="0"/>
              <a:t>	- Operating System: Windows 11</a:t>
            </a:r>
          </a:p>
          <a:p>
            <a:pPr marL="457200" lvl="1" indent="0">
              <a:spcBef>
                <a:spcPts val="480"/>
              </a:spcBef>
              <a:buSzPts val="2400"/>
              <a:buNone/>
            </a:pPr>
            <a:r>
              <a:rPr lang="en-US" dirty="0"/>
              <a:t>	- UiPath Studio: For designing and deploying the automation workflows.</a:t>
            </a:r>
          </a:p>
          <a:p>
            <a:pPr marL="457200" lvl="1" indent="0">
              <a:spcBef>
                <a:spcPts val="480"/>
              </a:spcBef>
              <a:buSzPts val="2400"/>
              <a:buNone/>
            </a:pPr>
            <a:r>
              <a:rPr lang="en-US" dirty="0"/>
              <a:t>	- Microsoft Excel: For managing input and output data.</a:t>
            </a:r>
          </a:p>
          <a:p>
            <a:pPr marL="457200" lvl="1" indent="0">
              <a:spcBef>
                <a:spcPts val="480"/>
              </a:spcBef>
              <a:buSzPts val="2400"/>
              <a:buNone/>
            </a:pPr>
            <a:r>
              <a:rPr lang="en-US" dirty="0"/>
              <a:t>	- UiPath Orchestrator: For scheduling and monitoring workflows.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5" name="Google Shape;155;p21"/>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IN" dirty="0"/>
              <a:t>Module 1: Data Input and Validation</a:t>
            </a:r>
          </a:p>
          <a:p>
            <a:pPr marL="0" indent="0" algn="just">
              <a:spcBef>
                <a:spcPts val="0"/>
              </a:spcBef>
              <a:buNone/>
            </a:pPr>
            <a:r>
              <a:rPr lang="en-IN" dirty="0"/>
              <a:t>	</a:t>
            </a:r>
            <a:r>
              <a:rPr lang="en-US" dirty="0"/>
              <a:t>This module handles data ingestion from Excel sheets and validates entries to ensure no missing or incorrect information. It reads user information, including names, emails, and exam deadlines, and prepares the data for processing.</a:t>
            </a:r>
          </a:p>
          <a:p>
            <a:pPr marL="0" indent="0" algn="just">
              <a:spcBef>
                <a:spcPts val="0"/>
              </a:spcBef>
              <a:buNone/>
            </a:pPr>
            <a:endParaRPr lang="en-US" dirty="0"/>
          </a:p>
          <a:p>
            <a:pPr marL="0" lvl="0" indent="0" algn="l" rtl="0">
              <a:lnSpc>
                <a:spcPct val="114000"/>
              </a:lnSpc>
              <a:spcBef>
                <a:spcPts val="0"/>
              </a:spcBef>
              <a:spcAft>
                <a:spcPts val="0"/>
              </a:spcAft>
              <a:buClr>
                <a:schemeClr val="dk1"/>
              </a:buClr>
              <a:buSzPts val="2400"/>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5" name="Picture 4">
            <a:extLst>
              <a:ext uri="{FF2B5EF4-FFF2-40B4-BE49-F238E27FC236}">
                <a16:creationId xmlns:a16="http://schemas.microsoft.com/office/drawing/2014/main" id="{6946F401-68AD-45B7-BF5A-D43E7946AA49}"/>
              </a:ext>
            </a:extLst>
          </p:cNvPr>
          <p:cNvPicPr>
            <a:picLocks noChangeAspect="1"/>
          </p:cNvPicPr>
          <p:nvPr/>
        </p:nvPicPr>
        <p:blipFill>
          <a:blip r:embed="rId3"/>
          <a:stretch>
            <a:fillRect/>
          </a:stretch>
        </p:blipFill>
        <p:spPr>
          <a:xfrm>
            <a:off x="1984629" y="3200400"/>
            <a:ext cx="5010150" cy="2743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52183B9-215F-C70B-BAFE-EE19F2C58466}"/>
            </a:ext>
          </a:extLst>
        </p:cNvPr>
        <p:cNvGrpSpPr/>
        <p:nvPr/>
      </p:nvGrpSpPr>
      <p:grpSpPr>
        <a:xfrm>
          <a:off x="0" y="0"/>
          <a:ext cx="0" cy="0"/>
          <a:chOff x="0" y="0"/>
          <a:chExt cx="0" cy="0"/>
        </a:xfrm>
      </p:grpSpPr>
      <p:sp>
        <p:nvSpPr>
          <p:cNvPr id="154" name="Google Shape;154;p21">
            <a:extLst>
              <a:ext uri="{FF2B5EF4-FFF2-40B4-BE49-F238E27FC236}">
                <a16:creationId xmlns:a16="http://schemas.microsoft.com/office/drawing/2014/main" id="{E503A779-68A8-6910-E147-F93A146F91B7}"/>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5" name="Google Shape;155;p21">
            <a:extLst>
              <a:ext uri="{FF2B5EF4-FFF2-40B4-BE49-F238E27FC236}">
                <a16:creationId xmlns:a16="http://schemas.microsoft.com/office/drawing/2014/main" id="{208AC892-E4F8-70B6-5F38-F115AD6BC547}"/>
              </a:ext>
            </a:extLst>
          </p:cNvPr>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IN" dirty="0"/>
              <a:t>Module 2: Deadline Check and Email Reminder</a:t>
            </a:r>
          </a:p>
          <a:p>
            <a:pPr marL="0" indent="0" algn="just">
              <a:spcBef>
                <a:spcPts val="0"/>
              </a:spcBef>
              <a:buNone/>
            </a:pPr>
            <a:r>
              <a:rPr lang="en-IN" dirty="0"/>
              <a:t>	</a:t>
            </a:r>
            <a:r>
              <a:rPr lang="en-US" dirty="0"/>
              <a:t>This module compares current dates with exam registration deadlines. If deadlines are close, it composes and sends email reminders to the users whose deadlines are within the specified threshold.</a:t>
            </a:r>
          </a:p>
          <a:p>
            <a:pPr marL="0" indent="0" algn="just">
              <a:spcBef>
                <a:spcPts val="0"/>
              </a:spcBef>
              <a:buNone/>
            </a:pPr>
            <a:endParaRPr lang="en-US" dirty="0"/>
          </a:p>
          <a:p>
            <a:pPr marL="0" indent="0" algn="just">
              <a:spcBef>
                <a:spcPts val="0"/>
              </a:spcBef>
              <a:buNone/>
            </a:pPr>
            <a:endParaRPr lang="en-US" dirty="0"/>
          </a:p>
          <a:p>
            <a:pPr marL="0" lvl="0" indent="0" algn="l" rtl="0">
              <a:lnSpc>
                <a:spcPct val="114000"/>
              </a:lnSpc>
              <a:spcBef>
                <a:spcPts val="0"/>
              </a:spcBef>
              <a:spcAft>
                <a:spcPts val="0"/>
              </a:spcAft>
              <a:buClr>
                <a:schemeClr val="dk1"/>
              </a:buClr>
              <a:buSzPts val="2400"/>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6" name="Picture 5">
            <a:extLst>
              <a:ext uri="{FF2B5EF4-FFF2-40B4-BE49-F238E27FC236}">
                <a16:creationId xmlns:a16="http://schemas.microsoft.com/office/drawing/2014/main" id="{8012310C-1DEE-AF5A-AD3F-71A53390B4DA}"/>
              </a:ext>
            </a:extLst>
          </p:cNvPr>
          <p:cNvPicPr>
            <a:picLocks noChangeAspect="1"/>
          </p:cNvPicPr>
          <p:nvPr/>
        </p:nvPicPr>
        <p:blipFill>
          <a:blip r:embed="rId3"/>
          <a:stretch>
            <a:fillRect/>
          </a:stretch>
        </p:blipFill>
        <p:spPr>
          <a:xfrm>
            <a:off x="2114550" y="2996952"/>
            <a:ext cx="4914900" cy="3085306"/>
          </a:xfrm>
          <a:prstGeom prst="rect">
            <a:avLst/>
          </a:prstGeom>
        </p:spPr>
      </p:pic>
    </p:spTree>
    <p:extLst>
      <p:ext uri="{BB962C8B-B14F-4D97-AF65-F5344CB8AC3E}">
        <p14:creationId xmlns:p14="http://schemas.microsoft.com/office/powerpoint/2010/main" val="634387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96826BD-32B0-5A6C-F2F3-E937B3A235F0}"/>
            </a:ext>
          </a:extLst>
        </p:cNvPr>
        <p:cNvGrpSpPr/>
        <p:nvPr/>
      </p:nvGrpSpPr>
      <p:grpSpPr>
        <a:xfrm>
          <a:off x="0" y="0"/>
          <a:ext cx="0" cy="0"/>
          <a:chOff x="0" y="0"/>
          <a:chExt cx="0" cy="0"/>
        </a:xfrm>
      </p:grpSpPr>
      <p:sp>
        <p:nvSpPr>
          <p:cNvPr id="154" name="Google Shape;154;p21">
            <a:extLst>
              <a:ext uri="{FF2B5EF4-FFF2-40B4-BE49-F238E27FC236}">
                <a16:creationId xmlns:a16="http://schemas.microsoft.com/office/drawing/2014/main" id="{535EB88B-A231-DD31-1D1F-755853F8EE33}"/>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5" name="Google Shape;155;p21">
            <a:extLst>
              <a:ext uri="{FF2B5EF4-FFF2-40B4-BE49-F238E27FC236}">
                <a16:creationId xmlns:a16="http://schemas.microsoft.com/office/drawing/2014/main" id="{4E2A50B8-FE94-2AE5-1EF7-7141B2FDCEEB}"/>
              </a:ext>
            </a:extLst>
          </p:cNvPr>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IN" dirty="0"/>
              <a:t>Module 3: Reminder Sent Status Update</a:t>
            </a:r>
          </a:p>
          <a:p>
            <a:pPr marL="0" indent="0" algn="just">
              <a:spcBef>
                <a:spcPts val="0"/>
              </a:spcBef>
              <a:buNone/>
            </a:pPr>
            <a:r>
              <a:rPr lang="en-IN" dirty="0"/>
              <a:t>	</a:t>
            </a:r>
            <a:r>
              <a:rPr lang="en-US" dirty="0"/>
              <a:t>This module updates the "Reminder Sent" column in the Excel sheet after reminders are sent.</a:t>
            </a:r>
          </a:p>
          <a:p>
            <a:pPr marL="0" indent="0" algn="just">
              <a:spcBef>
                <a:spcPts val="0"/>
              </a:spcBef>
              <a:buNone/>
            </a:pPr>
            <a:endParaRPr lang="en-US" dirty="0"/>
          </a:p>
          <a:p>
            <a:pPr marL="0" lvl="0" indent="0" algn="l" rtl="0">
              <a:lnSpc>
                <a:spcPct val="114000"/>
              </a:lnSpc>
              <a:spcBef>
                <a:spcPts val="0"/>
              </a:spcBef>
              <a:spcAft>
                <a:spcPts val="0"/>
              </a:spcAft>
              <a:buClr>
                <a:schemeClr val="dk1"/>
              </a:buClr>
              <a:buSzPts val="2400"/>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4" name="Picture 3">
            <a:extLst>
              <a:ext uri="{FF2B5EF4-FFF2-40B4-BE49-F238E27FC236}">
                <a16:creationId xmlns:a16="http://schemas.microsoft.com/office/drawing/2014/main" id="{F04F98DB-BC8F-E38B-9A0F-D2149ABFE670}"/>
              </a:ext>
            </a:extLst>
          </p:cNvPr>
          <p:cNvPicPr>
            <a:picLocks noChangeAspect="1"/>
          </p:cNvPicPr>
          <p:nvPr/>
        </p:nvPicPr>
        <p:blipFill>
          <a:blip r:embed="rId3"/>
          <a:stretch>
            <a:fillRect/>
          </a:stretch>
        </p:blipFill>
        <p:spPr>
          <a:xfrm>
            <a:off x="2824162" y="2708920"/>
            <a:ext cx="3495675" cy="2638425"/>
          </a:xfrm>
          <a:prstGeom prst="rect">
            <a:avLst/>
          </a:prstGeom>
        </p:spPr>
      </p:pic>
    </p:spTree>
    <p:extLst>
      <p:ext uri="{BB962C8B-B14F-4D97-AF65-F5344CB8AC3E}">
        <p14:creationId xmlns:p14="http://schemas.microsoft.com/office/powerpoint/2010/main" val="417854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9E46FD36-8710-78FF-C5C5-65A67522413D}"/>
            </a:ext>
          </a:extLst>
        </p:cNvPr>
        <p:cNvGrpSpPr/>
        <p:nvPr/>
      </p:nvGrpSpPr>
      <p:grpSpPr>
        <a:xfrm>
          <a:off x="0" y="0"/>
          <a:ext cx="0" cy="0"/>
          <a:chOff x="0" y="0"/>
          <a:chExt cx="0" cy="0"/>
        </a:xfrm>
      </p:grpSpPr>
      <p:sp>
        <p:nvSpPr>
          <p:cNvPr id="154" name="Google Shape;154;p21">
            <a:extLst>
              <a:ext uri="{FF2B5EF4-FFF2-40B4-BE49-F238E27FC236}">
                <a16:creationId xmlns:a16="http://schemas.microsoft.com/office/drawing/2014/main" id="{D2430005-5CA4-2ED1-1AA8-3AA967AC09A4}"/>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5" name="Google Shape;155;p21">
            <a:extLst>
              <a:ext uri="{FF2B5EF4-FFF2-40B4-BE49-F238E27FC236}">
                <a16:creationId xmlns:a16="http://schemas.microsoft.com/office/drawing/2014/main" id="{1D140963-48DF-B922-B065-F69A6AAF67C1}"/>
              </a:ext>
            </a:extLst>
          </p:cNvPr>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IN" dirty="0"/>
              <a:t>Module 4: Error Logging and Notifications</a:t>
            </a:r>
          </a:p>
          <a:p>
            <a:pPr marL="0" indent="0" algn="just">
              <a:spcBef>
                <a:spcPts val="0"/>
              </a:spcBef>
              <a:buNone/>
            </a:pPr>
            <a:r>
              <a:rPr lang="en-IN" dirty="0"/>
              <a:t>	</a:t>
            </a:r>
            <a:r>
              <a:rPr lang="en-US" dirty="0"/>
              <a:t>This module captures errors (e.g., email sending failures) and logs them in a dedicated Excel sheet or file.</a:t>
            </a: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3" name="Picture 2">
            <a:extLst>
              <a:ext uri="{FF2B5EF4-FFF2-40B4-BE49-F238E27FC236}">
                <a16:creationId xmlns:a16="http://schemas.microsoft.com/office/drawing/2014/main" id="{23B30EEA-B685-E45A-2953-10210A271CC9}"/>
              </a:ext>
            </a:extLst>
          </p:cNvPr>
          <p:cNvPicPr>
            <a:picLocks noChangeAspect="1"/>
          </p:cNvPicPr>
          <p:nvPr/>
        </p:nvPicPr>
        <p:blipFill>
          <a:blip r:embed="rId3"/>
          <a:stretch>
            <a:fillRect/>
          </a:stretch>
        </p:blipFill>
        <p:spPr>
          <a:xfrm>
            <a:off x="2105025" y="2780928"/>
            <a:ext cx="4933950" cy="2743200"/>
          </a:xfrm>
          <a:prstGeom prst="rect">
            <a:avLst/>
          </a:prstGeom>
        </p:spPr>
      </p:pic>
    </p:spTree>
    <p:extLst>
      <p:ext uri="{BB962C8B-B14F-4D97-AF65-F5344CB8AC3E}">
        <p14:creationId xmlns:p14="http://schemas.microsoft.com/office/powerpoint/2010/main" val="2893994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5C5C7075-34AC-ED1C-848F-CCA336000137}"/>
            </a:ext>
          </a:extLst>
        </p:cNvPr>
        <p:cNvGrpSpPr/>
        <p:nvPr/>
      </p:nvGrpSpPr>
      <p:grpSpPr>
        <a:xfrm>
          <a:off x="0" y="0"/>
          <a:ext cx="0" cy="0"/>
          <a:chOff x="0" y="0"/>
          <a:chExt cx="0" cy="0"/>
        </a:xfrm>
      </p:grpSpPr>
      <p:sp>
        <p:nvSpPr>
          <p:cNvPr id="154" name="Google Shape;154;p21">
            <a:extLst>
              <a:ext uri="{FF2B5EF4-FFF2-40B4-BE49-F238E27FC236}">
                <a16:creationId xmlns:a16="http://schemas.microsoft.com/office/drawing/2014/main" id="{748CC362-38C0-B5F1-2990-D97E84C398CB}"/>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5" name="Google Shape;155;p21">
            <a:extLst>
              <a:ext uri="{FF2B5EF4-FFF2-40B4-BE49-F238E27FC236}">
                <a16:creationId xmlns:a16="http://schemas.microsoft.com/office/drawing/2014/main" id="{C5E0BEF7-D0DC-EB16-6DD3-989224613571}"/>
              </a:ext>
            </a:extLst>
          </p:cNvPr>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IN" dirty="0"/>
              <a:t>Module 5: Completion and Reporting</a:t>
            </a:r>
          </a:p>
          <a:p>
            <a:pPr marL="0" indent="0" algn="just">
              <a:spcBef>
                <a:spcPts val="0"/>
              </a:spcBef>
              <a:buNone/>
            </a:pPr>
            <a:r>
              <a:rPr lang="en-IN" dirty="0"/>
              <a:t>	</a:t>
            </a:r>
            <a:r>
              <a:rPr lang="en-US" dirty="0"/>
              <a:t>This module concludes the workflow and generates a summary report.</a:t>
            </a:r>
          </a:p>
          <a:p>
            <a:pPr marL="0" indent="0" algn="just">
              <a:spcBef>
                <a:spcPts val="0"/>
              </a:spcBef>
              <a:buNone/>
            </a:pPr>
            <a:endParaRPr lang="en-US" dirty="0"/>
          </a:p>
        </p:txBody>
      </p:sp>
      <p:pic>
        <p:nvPicPr>
          <p:cNvPr id="4" name="Picture 3">
            <a:extLst>
              <a:ext uri="{FF2B5EF4-FFF2-40B4-BE49-F238E27FC236}">
                <a16:creationId xmlns:a16="http://schemas.microsoft.com/office/drawing/2014/main" id="{59B03153-DE4A-F175-583E-FA11FAC7795B}"/>
              </a:ext>
            </a:extLst>
          </p:cNvPr>
          <p:cNvPicPr>
            <a:picLocks noChangeAspect="1"/>
          </p:cNvPicPr>
          <p:nvPr/>
        </p:nvPicPr>
        <p:blipFill>
          <a:blip r:embed="rId3"/>
          <a:stretch>
            <a:fillRect/>
          </a:stretch>
        </p:blipFill>
        <p:spPr>
          <a:xfrm>
            <a:off x="2339752" y="2144270"/>
            <a:ext cx="4610100" cy="3752850"/>
          </a:xfrm>
          <a:prstGeom prst="rect">
            <a:avLst/>
          </a:prstGeom>
        </p:spPr>
      </p:pic>
    </p:spTree>
    <p:extLst>
      <p:ext uri="{BB962C8B-B14F-4D97-AF65-F5344CB8AC3E}">
        <p14:creationId xmlns:p14="http://schemas.microsoft.com/office/powerpoint/2010/main" val="3011970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2"/>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Table Design</a:t>
            </a:r>
            <a:endParaRPr>
              <a:latin typeface="Calibri"/>
              <a:ea typeface="Calibri"/>
              <a:cs typeface="Calibri"/>
              <a:sym typeface="Calibri"/>
            </a:endParaRPr>
          </a:p>
        </p:txBody>
      </p:sp>
      <p:sp>
        <p:nvSpPr>
          <p:cNvPr id="162" name="Google Shape;162;p22"/>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US" dirty="0"/>
              <a:t>ER Diagram (Entity-Relationship)</a:t>
            </a:r>
          </a:p>
          <a:p>
            <a:pPr marL="0" lvl="0" indent="0" algn="l" rtl="0">
              <a:lnSpc>
                <a:spcPct val="114000"/>
              </a:lnSpc>
              <a:spcBef>
                <a:spcPts val="0"/>
              </a:spcBef>
              <a:spcAft>
                <a:spcPts val="0"/>
              </a:spcAft>
              <a:buClr>
                <a:schemeClr val="dk1"/>
              </a:buClr>
              <a:buSzPts val="2400"/>
              <a:buNone/>
            </a:pPr>
            <a:endParaRPr dirty="0"/>
          </a:p>
        </p:txBody>
      </p:sp>
      <p:pic>
        <p:nvPicPr>
          <p:cNvPr id="5" name="Picture 4">
            <a:extLst>
              <a:ext uri="{FF2B5EF4-FFF2-40B4-BE49-F238E27FC236}">
                <a16:creationId xmlns:a16="http://schemas.microsoft.com/office/drawing/2014/main" id="{769567B8-EF64-3B54-3839-FF0FB8B34EF5}"/>
              </a:ext>
            </a:extLst>
          </p:cNvPr>
          <p:cNvPicPr>
            <a:picLocks noChangeAspect="1"/>
          </p:cNvPicPr>
          <p:nvPr/>
        </p:nvPicPr>
        <p:blipFill>
          <a:blip r:embed="rId3"/>
          <a:stretch>
            <a:fillRect/>
          </a:stretch>
        </p:blipFill>
        <p:spPr>
          <a:xfrm>
            <a:off x="2771800" y="1412776"/>
            <a:ext cx="4210050" cy="47815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69" name="Google Shape;169;p2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Main Process</a:t>
            </a:r>
            <a:br>
              <a:rPr lang="en-US" dirty="0"/>
            </a:br>
            <a:endParaRPr dirty="0"/>
          </a:p>
        </p:txBody>
      </p:sp>
      <p:pic>
        <p:nvPicPr>
          <p:cNvPr id="3" name="Picture 2">
            <a:extLst>
              <a:ext uri="{FF2B5EF4-FFF2-40B4-BE49-F238E27FC236}">
                <a16:creationId xmlns:a16="http://schemas.microsoft.com/office/drawing/2014/main" id="{D5E0BC2E-60C2-A566-A735-8C6F922C3569}"/>
              </a:ext>
            </a:extLst>
          </p:cNvPr>
          <p:cNvPicPr>
            <a:picLocks noChangeAspect="1"/>
          </p:cNvPicPr>
          <p:nvPr/>
        </p:nvPicPr>
        <p:blipFill>
          <a:blip r:embed="rId3"/>
          <a:stretch>
            <a:fillRect/>
          </a:stretch>
        </p:blipFill>
        <p:spPr>
          <a:xfrm>
            <a:off x="1706245" y="1878330"/>
            <a:ext cx="5731510" cy="31013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282D43A9-EAF2-E3EC-2E17-27867D9D6950}"/>
            </a:ext>
          </a:extLst>
        </p:cNvPr>
        <p:cNvGrpSpPr/>
        <p:nvPr/>
      </p:nvGrpSpPr>
      <p:grpSpPr>
        <a:xfrm>
          <a:off x="0" y="0"/>
          <a:ext cx="0" cy="0"/>
          <a:chOff x="0" y="0"/>
          <a:chExt cx="0" cy="0"/>
        </a:xfrm>
      </p:grpSpPr>
      <p:sp>
        <p:nvSpPr>
          <p:cNvPr id="168" name="Google Shape;168;p23">
            <a:extLst>
              <a:ext uri="{FF2B5EF4-FFF2-40B4-BE49-F238E27FC236}">
                <a16:creationId xmlns:a16="http://schemas.microsoft.com/office/drawing/2014/main" id="{BBB37009-D819-1041-D006-7512578592AE}"/>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69" name="Google Shape;169;p23">
            <a:extLst>
              <a:ext uri="{FF2B5EF4-FFF2-40B4-BE49-F238E27FC236}">
                <a16:creationId xmlns:a16="http://schemas.microsoft.com/office/drawing/2014/main" id="{08F9E43D-BEB7-8D71-B56D-4C6405B48577}"/>
              </a:ext>
            </a:extLst>
          </p:cNvPr>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Main Process</a:t>
            </a:r>
            <a:br>
              <a:rPr lang="en-US" dirty="0"/>
            </a:br>
            <a:endParaRPr dirty="0"/>
          </a:p>
        </p:txBody>
      </p:sp>
      <p:pic>
        <p:nvPicPr>
          <p:cNvPr id="2" name="Picture 1">
            <a:extLst>
              <a:ext uri="{FF2B5EF4-FFF2-40B4-BE49-F238E27FC236}">
                <a16:creationId xmlns:a16="http://schemas.microsoft.com/office/drawing/2014/main" id="{AFB9F03E-EA8A-1E4D-121C-489A8BA78545}"/>
              </a:ext>
            </a:extLst>
          </p:cNvPr>
          <p:cNvPicPr>
            <a:picLocks noChangeAspect="1"/>
          </p:cNvPicPr>
          <p:nvPr/>
        </p:nvPicPr>
        <p:blipFill>
          <a:blip r:embed="rId3"/>
          <a:stretch>
            <a:fillRect/>
          </a:stretch>
        </p:blipFill>
        <p:spPr>
          <a:xfrm>
            <a:off x="1706245" y="1878330"/>
            <a:ext cx="5731510" cy="3101340"/>
          </a:xfrm>
          <a:prstGeom prst="rect">
            <a:avLst/>
          </a:prstGeom>
        </p:spPr>
      </p:pic>
    </p:spTree>
    <p:extLst>
      <p:ext uri="{BB962C8B-B14F-4D97-AF65-F5344CB8AC3E}">
        <p14:creationId xmlns:p14="http://schemas.microsoft.com/office/powerpoint/2010/main" val="3919879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7">
          <a:extLst>
            <a:ext uri="{FF2B5EF4-FFF2-40B4-BE49-F238E27FC236}">
              <a16:creationId xmlns:a16="http://schemas.microsoft.com/office/drawing/2014/main" id="{A8CC9305-671B-A36D-AB77-DFBB136009E9}"/>
            </a:ext>
          </a:extLst>
        </p:cNvPr>
        <p:cNvGrpSpPr/>
        <p:nvPr/>
      </p:nvGrpSpPr>
      <p:grpSpPr>
        <a:xfrm>
          <a:off x="0" y="0"/>
          <a:ext cx="0" cy="0"/>
          <a:chOff x="0" y="0"/>
          <a:chExt cx="0" cy="0"/>
        </a:xfrm>
      </p:grpSpPr>
      <p:sp>
        <p:nvSpPr>
          <p:cNvPr id="168" name="Google Shape;168;p23">
            <a:extLst>
              <a:ext uri="{FF2B5EF4-FFF2-40B4-BE49-F238E27FC236}">
                <a16:creationId xmlns:a16="http://schemas.microsoft.com/office/drawing/2014/main" id="{10C9EB8C-2C40-8760-E861-101BB0EAF59E}"/>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69" name="Google Shape;169;p23">
            <a:extLst>
              <a:ext uri="{FF2B5EF4-FFF2-40B4-BE49-F238E27FC236}">
                <a16:creationId xmlns:a16="http://schemas.microsoft.com/office/drawing/2014/main" id="{CE96415D-9974-656A-7ADC-B5400A1E0114}"/>
              </a:ext>
            </a:extLst>
          </p:cNvPr>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Main Process</a:t>
            </a:r>
            <a:br>
              <a:rPr lang="en-US" dirty="0"/>
            </a:br>
            <a:endParaRPr dirty="0"/>
          </a:p>
        </p:txBody>
      </p:sp>
      <p:pic>
        <p:nvPicPr>
          <p:cNvPr id="2" name="Picture 1">
            <a:extLst>
              <a:ext uri="{FF2B5EF4-FFF2-40B4-BE49-F238E27FC236}">
                <a16:creationId xmlns:a16="http://schemas.microsoft.com/office/drawing/2014/main" id="{C8DD58D2-76A4-6995-3E6B-436687A94C3F}"/>
              </a:ext>
            </a:extLst>
          </p:cNvPr>
          <p:cNvPicPr>
            <a:picLocks noChangeAspect="1"/>
          </p:cNvPicPr>
          <p:nvPr/>
        </p:nvPicPr>
        <p:blipFill>
          <a:blip r:embed="rId3"/>
          <a:stretch>
            <a:fillRect/>
          </a:stretch>
        </p:blipFill>
        <p:spPr>
          <a:xfrm>
            <a:off x="1706245" y="1878330"/>
            <a:ext cx="5731510" cy="3101340"/>
          </a:xfrm>
          <a:prstGeom prst="rect">
            <a:avLst/>
          </a:prstGeom>
        </p:spPr>
      </p:pic>
    </p:spTree>
    <p:extLst>
      <p:ext uri="{BB962C8B-B14F-4D97-AF65-F5344CB8AC3E}">
        <p14:creationId xmlns:p14="http://schemas.microsoft.com/office/powerpoint/2010/main" val="3532096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76" name="Google Shape;176;p2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Implementation of Module 1:</a:t>
            </a:r>
          </a:p>
          <a:p>
            <a:pPr marL="0" lvl="0" indent="0" algn="l" rtl="0">
              <a:lnSpc>
                <a:spcPct val="114000"/>
              </a:lnSpc>
              <a:spcBef>
                <a:spcPts val="0"/>
              </a:spcBef>
              <a:spcAft>
                <a:spcPts val="0"/>
              </a:spcAft>
              <a:buClr>
                <a:schemeClr val="dk1"/>
              </a:buClr>
              <a:buSzPts val="2400"/>
              <a:buNone/>
            </a:pPr>
            <a:r>
              <a:rPr lang="en-US" dirty="0"/>
              <a:t>	Data Input and Validation: This module reads and validates the data from the excel sheet, ensuring no errors or missing fields.</a:t>
            </a:r>
          </a:p>
        </p:txBody>
      </p:sp>
      <p:pic>
        <p:nvPicPr>
          <p:cNvPr id="2" name="Picture 1">
            <a:extLst>
              <a:ext uri="{FF2B5EF4-FFF2-40B4-BE49-F238E27FC236}">
                <a16:creationId xmlns:a16="http://schemas.microsoft.com/office/drawing/2014/main" id="{709D5CBF-3468-2F57-97FA-1B72F2F0BE09}"/>
              </a:ext>
            </a:extLst>
          </p:cNvPr>
          <p:cNvPicPr>
            <a:picLocks noChangeAspect="1"/>
          </p:cNvPicPr>
          <p:nvPr/>
        </p:nvPicPr>
        <p:blipFill>
          <a:blip r:embed="rId3"/>
          <a:stretch>
            <a:fillRect/>
          </a:stretch>
        </p:blipFill>
        <p:spPr>
          <a:xfrm>
            <a:off x="1706245" y="2492896"/>
            <a:ext cx="5731510" cy="30803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6C742524-AA72-6031-1A2B-8F9428608475}"/>
            </a:ext>
          </a:extLst>
        </p:cNvPr>
        <p:cNvGrpSpPr/>
        <p:nvPr/>
      </p:nvGrpSpPr>
      <p:grpSpPr>
        <a:xfrm>
          <a:off x="0" y="0"/>
          <a:ext cx="0" cy="0"/>
          <a:chOff x="0" y="0"/>
          <a:chExt cx="0" cy="0"/>
        </a:xfrm>
      </p:grpSpPr>
      <p:sp>
        <p:nvSpPr>
          <p:cNvPr id="175" name="Google Shape;175;p24">
            <a:extLst>
              <a:ext uri="{FF2B5EF4-FFF2-40B4-BE49-F238E27FC236}">
                <a16:creationId xmlns:a16="http://schemas.microsoft.com/office/drawing/2014/main" id="{7652318E-FBBE-7E31-BD00-ECBE9AB8486D}"/>
              </a:ext>
            </a:extLst>
          </p:cNvPr>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Implementation</a:t>
            </a:r>
            <a:endParaRPr>
              <a:latin typeface="Calibri"/>
              <a:ea typeface="Calibri"/>
              <a:cs typeface="Calibri"/>
              <a:sym typeface="Calibri"/>
            </a:endParaRPr>
          </a:p>
        </p:txBody>
      </p:sp>
      <p:sp>
        <p:nvSpPr>
          <p:cNvPr id="176" name="Google Shape;176;p24">
            <a:extLst>
              <a:ext uri="{FF2B5EF4-FFF2-40B4-BE49-F238E27FC236}">
                <a16:creationId xmlns:a16="http://schemas.microsoft.com/office/drawing/2014/main" id="{F60EE478-5938-67C6-4ED9-C3DA60435300}"/>
              </a:ext>
            </a:extLst>
          </p:cNvPr>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Implementation of Module 2:</a:t>
            </a:r>
          </a:p>
          <a:p>
            <a:pPr marL="0" lvl="0" indent="0" algn="l" rtl="0">
              <a:lnSpc>
                <a:spcPct val="114000"/>
              </a:lnSpc>
              <a:spcBef>
                <a:spcPts val="0"/>
              </a:spcBef>
              <a:spcAft>
                <a:spcPts val="0"/>
              </a:spcAft>
              <a:buClr>
                <a:schemeClr val="dk1"/>
              </a:buClr>
              <a:buSzPts val="2400"/>
              <a:buNone/>
            </a:pPr>
            <a:r>
              <a:rPr lang="en-US" dirty="0"/>
              <a:t>	Reminder Sent Status Update: This module updates the "Reminder Sent" column in the Excel sheet after reminders are sent.</a:t>
            </a:r>
          </a:p>
          <a:p>
            <a:pPr marL="0" lvl="0" indent="0" algn="l" rtl="0">
              <a:lnSpc>
                <a:spcPct val="114000"/>
              </a:lnSpc>
              <a:spcBef>
                <a:spcPts val="0"/>
              </a:spcBef>
              <a:spcAft>
                <a:spcPts val="0"/>
              </a:spcAft>
              <a:buClr>
                <a:schemeClr val="dk1"/>
              </a:buClr>
              <a:buSzPts val="2400"/>
              <a:buNone/>
            </a:pPr>
            <a:endParaRPr lang="en-US" dirty="0"/>
          </a:p>
        </p:txBody>
      </p:sp>
      <p:pic>
        <p:nvPicPr>
          <p:cNvPr id="3" name="Picture 2">
            <a:extLst>
              <a:ext uri="{FF2B5EF4-FFF2-40B4-BE49-F238E27FC236}">
                <a16:creationId xmlns:a16="http://schemas.microsoft.com/office/drawing/2014/main" id="{D3D19ABE-94C3-5A85-35FB-88C4AECF596A}"/>
              </a:ext>
            </a:extLst>
          </p:cNvPr>
          <p:cNvPicPr>
            <a:picLocks noChangeAspect="1"/>
          </p:cNvPicPr>
          <p:nvPr/>
        </p:nvPicPr>
        <p:blipFill>
          <a:blip r:embed="rId3"/>
          <a:stretch>
            <a:fillRect/>
          </a:stretch>
        </p:blipFill>
        <p:spPr>
          <a:xfrm>
            <a:off x="1706245" y="2636912"/>
            <a:ext cx="5731510" cy="3080385"/>
          </a:xfrm>
          <a:prstGeom prst="rect">
            <a:avLst/>
          </a:prstGeom>
        </p:spPr>
      </p:pic>
    </p:spTree>
    <p:extLst>
      <p:ext uri="{BB962C8B-B14F-4D97-AF65-F5344CB8AC3E}">
        <p14:creationId xmlns:p14="http://schemas.microsoft.com/office/powerpoint/2010/main" val="291577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183" name="Google Shape;183;p2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US" dirty="0"/>
              <a:t>Screen shots:</a:t>
            </a:r>
          </a:p>
          <a:p>
            <a:pPr marL="0" lvl="0" indent="0" algn="l" rtl="0">
              <a:lnSpc>
                <a:spcPct val="114000"/>
              </a:lnSpc>
              <a:spcBef>
                <a:spcPts val="0"/>
              </a:spcBef>
              <a:spcAft>
                <a:spcPts val="0"/>
              </a:spcAft>
              <a:buClr>
                <a:schemeClr val="dk1"/>
              </a:buClr>
              <a:buSzPts val="2400"/>
              <a:buNone/>
            </a:pPr>
            <a:endParaRPr dirty="0"/>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2" name="Picture 1">
            <a:extLst>
              <a:ext uri="{FF2B5EF4-FFF2-40B4-BE49-F238E27FC236}">
                <a16:creationId xmlns:a16="http://schemas.microsoft.com/office/drawing/2014/main" id="{73109205-1294-F667-DC30-54EA6FBB6762}"/>
              </a:ext>
            </a:extLst>
          </p:cNvPr>
          <p:cNvPicPr>
            <a:picLocks noChangeAspect="1"/>
          </p:cNvPicPr>
          <p:nvPr/>
        </p:nvPicPr>
        <p:blipFill>
          <a:blip r:embed="rId3"/>
          <a:stretch>
            <a:fillRect/>
          </a:stretch>
        </p:blipFill>
        <p:spPr>
          <a:xfrm>
            <a:off x="1706245" y="1878330"/>
            <a:ext cx="5731510" cy="31013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190" name="Google Shape;190;p2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just" rtl="0">
              <a:lnSpc>
                <a:spcPct val="114000"/>
              </a:lnSpc>
              <a:spcBef>
                <a:spcPts val="0"/>
              </a:spcBef>
              <a:spcAft>
                <a:spcPts val="0"/>
              </a:spcAft>
              <a:buClr>
                <a:schemeClr val="dk1"/>
              </a:buClr>
              <a:buSzPts val="2400"/>
              <a:buNone/>
            </a:pPr>
            <a:r>
              <a:rPr lang="en-US" sz="1800" dirty="0"/>
              <a:t>The Online Exam Registration Reminder Bot provides an efficient and automated solution to ensure that students receive timely reminders about their exam registration deadlines. By leveraging UiPath Studio, this bot uses a combination of Excel data manipulation, email automation, and date-based logic to track and notify students of upcoming registration deadlines. The bot seamlessly integrates with Excel to read student data, check for approaching deadlines, and send personalized email reminders.</a:t>
            </a:r>
          </a:p>
          <a:p>
            <a:pPr marL="0" lvl="0" indent="0" algn="just" rtl="0">
              <a:lnSpc>
                <a:spcPct val="114000"/>
              </a:lnSpc>
              <a:spcBef>
                <a:spcPts val="0"/>
              </a:spcBef>
              <a:spcAft>
                <a:spcPts val="0"/>
              </a:spcAft>
              <a:buClr>
                <a:schemeClr val="dk1"/>
              </a:buClr>
              <a:buSzPts val="2400"/>
              <a:buNone/>
            </a:pPr>
            <a:r>
              <a:rPr lang="en-US" sz="1800" dirty="0"/>
              <a:t>The project enhances the exam registration process by eliminating manual tracking and reducing the chances of missing registration deadlines. It ensures that students are promptly reminded, allowing them to take necessary actions on time. Furthermore, it saves administrative effort and enhances communication within educational institutions.</a:t>
            </a:r>
          </a:p>
          <a:p>
            <a:pPr marL="0" lvl="0" indent="0" algn="just" rtl="0">
              <a:lnSpc>
                <a:spcPct val="114000"/>
              </a:lnSpc>
              <a:spcBef>
                <a:spcPts val="0"/>
              </a:spcBef>
              <a:spcAft>
                <a:spcPts val="0"/>
              </a:spcAft>
              <a:buClr>
                <a:schemeClr val="dk1"/>
              </a:buClr>
              <a:buSzPts val="2400"/>
              <a:buNone/>
            </a:pPr>
            <a:r>
              <a:rPr lang="en-US" sz="1800" dirty="0"/>
              <a:t>In conclusion, the Online Exam Registration Reminder Bot not only demonstrates the practical use of Robotic Process Automation (RPA) in managing critical workflows but also contributes to the overall efficiency and effectiveness of exam registration management systems. Through continuous enhancements and adaptations, such a bot could be further expanded to handle additional functionalities, ensuring a smooth and streamlined experience for both students and administrators.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197" name="Google Shape;197;p2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14000"/>
              </a:lnSpc>
              <a:spcBef>
                <a:spcPts val="0"/>
              </a:spcBef>
              <a:spcAft>
                <a:spcPts val="0"/>
              </a:spcAft>
              <a:buClr>
                <a:schemeClr val="dk1"/>
              </a:buClr>
              <a:buSzPts val="2400"/>
              <a:buNone/>
            </a:pPr>
            <a:r>
              <a:rPr lang="en-US" sz="1800" dirty="0"/>
              <a:t>Multi-Channel Notification Support</a:t>
            </a:r>
          </a:p>
          <a:p>
            <a:pPr marL="0" lvl="0" indent="0" algn="l" rtl="0">
              <a:lnSpc>
                <a:spcPct val="114000"/>
              </a:lnSpc>
              <a:spcBef>
                <a:spcPts val="0"/>
              </a:spcBef>
              <a:spcAft>
                <a:spcPts val="0"/>
              </a:spcAft>
              <a:buClr>
                <a:schemeClr val="dk1"/>
              </a:buClr>
              <a:buSzPts val="2400"/>
              <a:buNone/>
            </a:pPr>
            <a:r>
              <a:rPr lang="en-US" sz="1800" dirty="0"/>
              <a:t>	Description: Expand the system to include multiple notification channels, such as SMS, WhatsApp, or push notifications, alongside email reminders. This enhancement would ensure users receive reminders through their preferred medium, improving accessibility and user satisfaction.</a:t>
            </a:r>
          </a:p>
          <a:p>
            <a:pPr marL="0" lvl="0" indent="0" algn="l" rtl="0">
              <a:lnSpc>
                <a:spcPct val="114000"/>
              </a:lnSpc>
              <a:spcBef>
                <a:spcPts val="0"/>
              </a:spcBef>
              <a:spcAft>
                <a:spcPts val="0"/>
              </a:spcAft>
              <a:buClr>
                <a:schemeClr val="dk1"/>
              </a:buClr>
              <a:buSzPts val="2400"/>
              <a:buNone/>
            </a:pPr>
            <a:r>
              <a:rPr lang="en-US" sz="1800" dirty="0"/>
              <a:t>	Benefits:</a:t>
            </a:r>
          </a:p>
          <a:p>
            <a:pPr marL="0" lvl="0" indent="0" algn="l" rtl="0">
              <a:lnSpc>
                <a:spcPct val="114000"/>
              </a:lnSpc>
              <a:spcBef>
                <a:spcPts val="0"/>
              </a:spcBef>
              <a:spcAft>
                <a:spcPts val="0"/>
              </a:spcAft>
              <a:buClr>
                <a:schemeClr val="dk1"/>
              </a:buClr>
              <a:buSzPts val="2400"/>
              <a:buNone/>
            </a:pPr>
            <a:r>
              <a:rPr lang="en-US" sz="1800" dirty="0"/>
              <a:t>	- Wider reach and improved reliability of reminders.</a:t>
            </a:r>
          </a:p>
          <a:p>
            <a:pPr marL="0" lvl="0" indent="0" algn="l" rtl="0">
              <a:lnSpc>
                <a:spcPct val="114000"/>
              </a:lnSpc>
              <a:spcBef>
                <a:spcPts val="0"/>
              </a:spcBef>
              <a:spcAft>
                <a:spcPts val="0"/>
              </a:spcAft>
              <a:buClr>
                <a:schemeClr val="dk1"/>
              </a:buClr>
              <a:buSzPts val="2400"/>
              <a:buNone/>
            </a:pPr>
            <a:r>
              <a:rPr lang="en-US" sz="1800" dirty="0"/>
              <a:t>	- Enhanced user engagement and reduced chances of missed deadlines.</a:t>
            </a:r>
          </a:p>
          <a:p>
            <a:pPr marL="0" lvl="0" indent="0" algn="l" rtl="0">
              <a:lnSpc>
                <a:spcPct val="114000"/>
              </a:lnSpc>
              <a:spcBef>
                <a:spcPts val="0"/>
              </a:spcBef>
              <a:spcAft>
                <a:spcPts val="0"/>
              </a:spcAft>
              <a:buClr>
                <a:schemeClr val="dk1"/>
              </a:buClr>
              <a:buSzPts val="2400"/>
              <a:buNone/>
            </a:pPr>
            <a:r>
              <a:rPr lang="en-US" sz="1800" dirty="0"/>
              <a:t>	- Implementation Suggestion: Integrate APIs for SMS (e.g., Twilio) or WhatsApp messaging platforms to enable seamless communication.</a:t>
            </a:r>
          </a:p>
          <a:p>
            <a:pPr marL="0" lvl="0" indent="0" algn="l" rtl="0">
              <a:lnSpc>
                <a:spcPct val="114000"/>
              </a:lnSpc>
              <a:spcBef>
                <a:spcPts val="0"/>
              </a:spcBef>
              <a:spcAft>
                <a:spcPts val="0"/>
              </a:spcAft>
              <a:buClr>
                <a:schemeClr val="dk1"/>
              </a:buClr>
              <a:buSzPts val="2400"/>
              <a:buNone/>
            </a:pPr>
            <a:endParaRPr lang="en-US" sz="1800" dirty="0"/>
          </a:p>
          <a:p>
            <a:pPr marL="0" lvl="0" indent="0" algn="l" rtl="0">
              <a:lnSpc>
                <a:spcPct val="114000"/>
              </a:lnSpc>
              <a:spcBef>
                <a:spcPts val="0"/>
              </a:spcBef>
              <a:spcAft>
                <a:spcPts val="0"/>
              </a:spcAft>
              <a:buClr>
                <a:schemeClr val="dk1"/>
              </a:buClr>
              <a:buSzPts val="2400"/>
              <a:buNone/>
            </a:pPr>
            <a:r>
              <a:rPr lang="en-US" sz="1800" dirty="0"/>
              <a:t>AI-Driven Personalized Reminders</a:t>
            </a:r>
          </a:p>
          <a:p>
            <a:pPr marL="0" lvl="0" indent="0" algn="l" rtl="0">
              <a:lnSpc>
                <a:spcPct val="114000"/>
              </a:lnSpc>
              <a:spcBef>
                <a:spcPts val="0"/>
              </a:spcBef>
              <a:spcAft>
                <a:spcPts val="0"/>
              </a:spcAft>
              <a:buClr>
                <a:schemeClr val="dk1"/>
              </a:buClr>
              <a:buSzPts val="2400"/>
              <a:buNone/>
            </a:pPr>
            <a:r>
              <a:rPr lang="en-US" sz="1800" dirty="0"/>
              <a:t>	Description: Leverage AI to analyze user behavior, such as registration patterns or response times, and customize reminders. For example, users who frequently register late could receive more frequent notifications closer to the deadline.</a:t>
            </a:r>
          </a:p>
          <a:p>
            <a:pPr marL="0" lvl="0" indent="0" algn="l" rtl="0">
              <a:lnSpc>
                <a:spcPct val="114000"/>
              </a:lnSpc>
              <a:spcBef>
                <a:spcPts val="0"/>
              </a:spcBef>
              <a:spcAft>
                <a:spcPts val="0"/>
              </a:spcAft>
              <a:buClr>
                <a:schemeClr val="dk1"/>
              </a:buClr>
              <a:buSzPts val="2400"/>
              <a:buNone/>
            </a:pPr>
            <a:r>
              <a:rPr lang="en-US" sz="1800" dirty="0"/>
              <a:t>	Benefits:</a:t>
            </a:r>
          </a:p>
          <a:p>
            <a:pPr marL="0" lvl="0" indent="0" algn="l" rtl="0">
              <a:lnSpc>
                <a:spcPct val="114000"/>
              </a:lnSpc>
              <a:spcBef>
                <a:spcPts val="0"/>
              </a:spcBef>
              <a:spcAft>
                <a:spcPts val="0"/>
              </a:spcAft>
              <a:buClr>
                <a:schemeClr val="dk1"/>
              </a:buClr>
              <a:buSzPts val="2400"/>
              <a:buNone/>
            </a:pPr>
            <a:r>
              <a:rPr lang="en-US" sz="1800" dirty="0"/>
              <a:t>	- Increased effectiveness of reminders through tailored messaging.</a:t>
            </a:r>
          </a:p>
          <a:p>
            <a:pPr marL="0" lvl="0" indent="0" algn="l" rtl="0">
              <a:lnSpc>
                <a:spcPct val="114000"/>
              </a:lnSpc>
              <a:spcBef>
                <a:spcPts val="0"/>
              </a:spcBef>
              <a:spcAft>
                <a:spcPts val="0"/>
              </a:spcAft>
              <a:buClr>
                <a:schemeClr val="dk1"/>
              </a:buClr>
              <a:buSzPts val="2400"/>
              <a:buNone/>
            </a:pPr>
            <a:r>
              <a:rPr lang="en-US" sz="1800" dirty="0"/>
              <a:t>	- Improved user experience by addressing individual needs.</a:t>
            </a:r>
          </a:p>
          <a:p>
            <a:pPr marL="0" lvl="0" indent="0" algn="l" rtl="0">
              <a:lnSpc>
                <a:spcPct val="114000"/>
              </a:lnSpc>
              <a:spcBef>
                <a:spcPts val="0"/>
              </a:spcBef>
              <a:spcAft>
                <a:spcPts val="0"/>
              </a:spcAft>
              <a:buClr>
                <a:schemeClr val="dk1"/>
              </a:buClr>
              <a:buSzPts val="2400"/>
              <a:buNone/>
            </a:pPr>
            <a:r>
              <a:rPr lang="en-US" sz="1800" dirty="0"/>
              <a:t>	- Implementation Suggestion: Incorporate machine learning algorithms in the backend to evaluate past data and generate dynamic reminder schedules for each user.</a:t>
            </a:r>
            <a:endParaRPr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8"/>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IEEE Paper</a:t>
            </a:r>
            <a:endParaRPr>
              <a:latin typeface="Calibri"/>
              <a:ea typeface="Calibri"/>
              <a:cs typeface="Calibri"/>
              <a:sym typeface="Calibri"/>
            </a:endParaRPr>
          </a:p>
        </p:txBody>
      </p:sp>
      <p:sp>
        <p:nvSpPr>
          <p:cNvPr id="204" name="Google Shape;204;p28"/>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t>Title: The Online Exam System Research Based on the MVC Framework</a:t>
            </a:r>
          </a:p>
          <a:p>
            <a:pPr marL="342900" lvl="0" indent="-342900" algn="l" rtl="0">
              <a:lnSpc>
                <a:spcPct val="114000"/>
              </a:lnSpc>
              <a:spcBef>
                <a:spcPts val="0"/>
              </a:spcBef>
              <a:spcAft>
                <a:spcPts val="0"/>
              </a:spcAft>
              <a:buClr>
                <a:schemeClr val="dk1"/>
              </a:buClr>
              <a:buSzPts val="2400"/>
              <a:buFont typeface="Noto Sans Symbols"/>
              <a:buChar char="▪"/>
            </a:pPr>
            <a:r>
              <a:rPr lang="en-US" dirty="0"/>
              <a:t>Author: Details not available from the preview.</a:t>
            </a:r>
          </a:p>
          <a:p>
            <a:pPr marL="342900" lvl="0" indent="-342900" algn="l" rtl="0">
              <a:lnSpc>
                <a:spcPct val="114000"/>
              </a:lnSpc>
              <a:spcBef>
                <a:spcPts val="0"/>
              </a:spcBef>
              <a:spcAft>
                <a:spcPts val="0"/>
              </a:spcAft>
              <a:buClr>
                <a:schemeClr val="dk1"/>
              </a:buClr>
              <a:buSzPts val="2400"/>
              <a:buFont typeface="Noto Sans Symbols"/>
              <a:buChar char="▪"/>
            </a:pPr>
            <a:r>
              <a:rPr lang="en-US" dirty="0"/>
              <a:t>Link: https://ieeexplore.ieee.org/document/9482049</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11" name="Google Shape;211;p2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14000"/>
              </a:lnSpc>
              <a:spcBef>
                <a:spcPts val="0"/>
              </a:spcBef>
              <a:spcAft>
                <a:spcPts val="0"/>
              </a:spcAft>
              <a:buClr>
                <a:schemeClr val="dk1"/>
              </a:buClr>
              <a:buSzPts val="2400"/>
              <a:buNone/>
            </a:pPr>
            <a:r>
              <a:rPr lang="en-US" dirty="0"/>
              <a:t>[1] B. Shashi, R. Shashikala, and S. Sridhar, "Automating Academic Processes with Robotic Process Automation: A Case Study in Educational Institutions," International Journal of Educational Technology and Research, vol. 12, pp. 32-38, 2022.</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[2] V. Kumar, P. Verma, and R. Prakash, "Leveraging Robotic Process Automation for Managing Student Information Systems in Educational Institutions," International Journal of Computer Applications, vol. 47, pp. 76-83, 2021.</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[3] A. Sharma, K. N. Soni, "AI-driven Solutions for Exam Registration and Deadline Management," Journal of Artificial Intelligence and Education, vol. 15, no. 2, pp. 124-129, 2023. </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[4] S. A. Raj, R. R. Singh, "The Role of Automation in Educational Workflow Optimization," Proceedings of the International Conference on Educational Innovations, 2021, pp. 112-117, do: 10.1109/ICEI53144.2021.9475682</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[5] T. Mishra, M. D. Sharma, and S. Verma, "Robotic Process Automation in Education: Exploring the Benefits and Challenges," International Journal of Modern Education and Computer Science, vol. 13, pp. 56-63, 2020. </a:t>
            </a:r>
          </a:p>
          <a:p>
            <a:pPr marL="0" lvl="0" indent="0" algn="l" rtl="0">
              <a:lnSpc>
                <a:spcPct val="114000"/>
              </a:lnSpc>
              <a:spcBef>
                <a:spcPts val="0"/>
              </a:spcBef>
              <a:spcAft>
                <a:spcPts val="0"/>
              </a:spcAft>
              <a:buClr>
                <a:schemeClr val="dk1"/>
              </a:buClr>
              <a:buSzPts val="2400"/>
              <a:buNone/>
            </a:pPr>
            <a:endParaRPr lang="en-US" dirty="0"/>
          </a:p>
          <a:p>
            <a:pPr marL="0" lvl="0" indent="0" algn="l" rtl="0">
              <a:lnSpc>
                <a:spcPct val="114000"/>
              </a:lnSpc>
              <a:spcBef>
                <a:spcPts val="0"/>
              </a:spcBef>
              <a:spcAft>
                <a:spcPts val="0"/>
              </a:spcAft>
              <a:buClr>
                <a:schemeClr val="dk1"/>
              </a:buClr>
              <a:buSzPts val="2400"/>
              <a:buNone/>
            </a:pPr>
            <a:r>
              <a:rPr lang="en-US" dirty="0"/>
              <a:t>[6] J. C. Agarwal, "Designing an Efficient Email Reminder System for Educational Management," International Journal of Information Technology and Management, vol. 29, pp. 45-50, 2022.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p:nvPr/>
        </p:nvSpPr>
        <p:spPr>
          <a:xfrm>
            <a:off x="1844234" y="2321005"/>
            <a:ext cx="545553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TotalTime>
  <Words>1827</Words>
  <Application>Microsoft Office PowerPoint</Application>
  <PresentationFormat>On-screen Show (4:3)</PresentationFormat>
  <Paragraphs>159</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Noto Sans Symbols</vt:lpstr>
      <vt:lpstr>Open Sans ExtraBold</vt:lpstr>
      <vt:lpstr>Calibri</vt:lpstr>
      <vt:lpstr>Arial</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Functional Description</vt:lpstr>
      <vt:lpstr>Functional Description</vt:lpstr>
      <vt:lpstr>Functional Description</vt:lpstr>
      <vt:lpstr>Functional Description</vt:lpstr>
      <vt:lpstr>Table Design</vt:lpstr>
      <vt:lpstr>Process Design</vt:lpstr>
      <vt:lpstr>Process Design</vt:lpstr>
      <vt:lpstr>Process Design</vt:lpstr>
      <vt:lpstr>Implementation</vt:lpstr>
      <vt:lpstr>Implementation</vt:lpstr>
      <vt:lpstr>Testing</vt:lpstr>
      <vt:lpstr>Conclusions</vt:lpstr>
      <vt:lpstr>Future Enhancement</vt:lpstr>
      <vt:lpstr>IEEE Paper</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Bala murugan</dc:creator>
  <cp:lastModifiedBy>Bala murugan</cp:lastModifiedBy>
  <cp:revision>4</cp:revision>
  <dcterms:modified xsi:type="dcterms:W3CDTF">2024-11-22T06:54:23Z</dcterms:modified>
</cp:coreProperties>
</file>